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rts/chart1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4.xml" ContentType="application/vnd.openxmlformats-officedocument.drawingml.chart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754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Presente</c:v>
                </c:pt>
              </c:strCache>
            </c:strRef>
          </c:tx>
          <c:spPr>
            <a:solidFill>
              <a:srgbClr val="39A900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36</c:v>
                </c:pt>
                <c:pt idx="1">
                  <c:v>38</c:v>
                </c:pt>
                <c:pt idx="2">
                  <c:v>35</c:v>
                </c:pt>
                <c:pt idx="3">
                  <c:v>37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B0-43FF-AC0E-9D3DF1BEC04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Retardo</c:v>
                </c:pt>
              </c:strCache>
            </c:strRef>
          </c:tx>
          <c:spPr>
            <a:solidFill>
              <a:srgbClr val="D9770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</c:v>
                </c:pt>
                <c:pt idx="1">
                  <c:v>1</c:v>
                </c:pt>
                <c:pt idx="2">
                  <c:v>4</c:v>
                </c:pt>
                <c:pt idx="3">
                  <c:v>2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AB0-43FF-AC0E-9D3DF1BEC04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Ausente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Lun</c:v>
                </c:pt>
                <c:pt idx="1">
                  <c:v>Mar</c:v>
                </c:pt>
                <c:pt idx="2">
                  <c:v>Mié</c:v>
                </c:pt>
                <c:pt idx="3">
                  <c:v>Jue</c:v>
                </c:pt>
                <c:pt idx="4">
                  <c:v>Vie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AB0-43FF-AC0E-9D3DF1BEC0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Estados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39A9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E0D-452D-9627-A34AA83666E9}"/>
              </c:ext>
            </c:extLst>
          </c:dPt>
          <c:dPt>
            <c:idx val="1"/>
            <c:bubble3D val="0"/>
            <c:spPr>
              <a:solidFill>
                <a:srgbClr val="D9770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E0D-452D-9627-A34AA83666E9}"/>
              </c:ext>
            </c:extLst>
          </c:dPt>
          <c:dPt>
            <c:idx val="2"/>
            <c:bubble3D val="0"/>
            <c:spPr>
              <a:solidFill>
                <a:srgbClr val="DC262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E0D-452D-9627-A34AA83666E9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E0D-452D-9627-A34AA83666E9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E0D-452D-9627-A34AA83666E9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s-CO"/>
                </a:p>
              </c:txPr>
              <c:dLblPos val="inEnd"/>
              <c:showLegendKey val="0"/>
              <c:showVal val="1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E0D-452D-9627-A34AA83666E9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s-CO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Presente</c:v>
                </c:pt>
                <c:pt idx="1">
                  <c:v>Retardo</c:v>
                </c:pt>
                <c:pt idx="2">
                  <c:v>Ausente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88</c:v>
                </c:pt>
                <c:pt idx="1">
                  <c:v>9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E0D-452D-9627-A34AA8366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Asistencia</c:v>
                </c:pt>
              </c:strCache>
            </c:strRef>
          </c:tx>
          <c:spPr>
            <a:ln w="25400" cap="flat">
              <a:solidFill>
                <a:srgbClr val="39A9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9A900"/>
              </a:solidFill>
              <a:ln w="9525" cap="flat">
                <a:solidFill>
                  <a:srgbClr val="39A900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S1</c:v>
                </c:pt>
                <c:pt idx="1">
                  <c:v>S2</c:v>
                </c:pt>
                <c:pt idx="2">
                  <c:v>S3</c:v>
                </c:pt>
                <c:pt idx="3">
                  <c:v>S4</c:v>
                </c:pt>
                <c:pt idx="4">
                  <c:v>S5</c:v>
                </c:pt>
                <c:pt idx="5">
                  <c:v>S6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91</c:v>
                </c:pt>
                <c:pt idx="1">
                  <c:v>93</c:v>
                </c:pt>
                <c:pt idx="2">
                  <c:v>89</c:v>
                </c:pt>
                <c:pt idx="3">
                  <c:v>95</c:v>
                </c:pt>
                <c:pt idx="4">
                  <c:v>92</c:v>
                </c:pt>
                <c:pt idx="5">
                  <c:v>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F09-4682-9B39-5D4933C1B09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% Asistencia</c:v>
                </c:pt>
              </c:strCache>
            </c:strRef>
          </c:tx>
          <c:spPr>
            <a:solidFill>
              <a:srgbClr val="39A90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374151"/>
                    </a:solidFill>
                    <a:latin typeface="Arial"/>
                  </a:defRPr>
                </a:pPr>
                <a:endParaRPr lang="es-CO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ADSO</c:v>
                </c:pt>
                <c:pt idx="1">
                  <c:v>TeSis</c:v>
                </c:pt>
                <c:pt idx="2">
                  <c:v>Multimedia</c:v>
                </c:pt>
                <c:pt idx="3">
                  <c:v>Contabilidad</c:v>
                </c:pt>
                <c:pt idx="4">
                  <c:v>Gestión Doc.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94</c:v>
                </c:pt>
                <c:pt idx="1">
                  <c:v>91</c:v>
                </c:pt>
                <c:pt idx="2">
                  <c:v>89</c:v>
                </c:pt>
                <c:pt idx="3">
                  <c:v>93</c:v>
                </c:pt>
                <c:pt idx="4">
                  <c:v>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73E-4742-98C5-A1C591C9CA2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80"/>
        </c:scaling>
        <c:delete val="0"/>
        <c:axPos val="l"/>
        <c:majorGridlines>
          <c:spPr>
            <a:ln w="9525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6185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0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11" Type="http://schemas.openxmlformats.org/officeDocument/2006/relationships/image" Target="../media/image16.png"/><Relationship Id="rId5" Type="http://schemas.openxmlformats.org/officeDocument/2006/relationships/image" Target="../media/image11.png"/><Relationship Id="rId10" Type="http://schemas.openxmlformats.org/officeDocument/2006/relationships/image" Target="../media/image14.png"/><Relationship Id="rId4" Type="http://schemas.openxmlformats.org/officeDocument/2006/relationships/image" Target="../media/image5.png"/><Relationship Id="rId9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chart" Target="../charts/chart1.xml"/><Relationship Id="rId5" Type="http://schemas.openxmlformats.org/officeDocument/2006/relationships/image" Target="../media/image8.png"/><Relationship Id="rId10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2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3.png"/><Relationship Id="rId4" Type="http://schemas.openxmlformats.org/officeDocument/2006/relationships/chart" Target="../charts/chart3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6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4.png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943600" cy="594360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39A900">
              <a:alpha val="22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-1828800" y="4754880"/>
            <a:ext cx="4206240" cy="4206240"/>
          </a:xfrm>
          <a:prstGeom prst="ellipse">
            <a:avLst/>
          </a:prstGeom>
          <a:solidFill>
            <a:srgbClr val="39A900">
              <a:alpha val="15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502920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wifi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041" y="65032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486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 · ADSO 3413974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33172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Sistema de Asistencias</a:t>
            </a:r>
            <a:endParaRPr lang="en-US" sz="4600" dirty="0"/>
          </a:p>
        </p:txBody>
      </p:sp>
      <p:sp>
        <p:nvSpPr>
          <p:cNvPr id="9" name="Text 6"/>
          <p:cNvSpPr/>
          <p:nvPr/>
        </p:nvSpPr>
        <p:spPr>
          <a:xfrm>
            <a:off x="548640" y="315468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 tecnología NFC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566928" y="406908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rápido, seguro y automatizado — el instructor supervisa, el aprendiz gestiona su propio registro.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66928" y="507492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sena-ppt/icons/signin_darker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780" y="5174772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69848" y="5074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instructores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4133088" y="507492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sena-ppt/icons/idcard_darker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32940" y="5174772"/>
            <a:ext cx="184343" cy="184343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36008" y="5074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por carnet NFC o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</a:t>
            </a: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movil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7699248" y="5074920"/>
            <a:ext cx="384048" cy="38404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3" descr="/home/claude/sena-ppt/icons/clipboard_darker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9100" y="5174772"/>
            <a:ext cx="184343" cy="18434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202168" y="50749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reportes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566928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solución tecnológica  ·  Julián Torres Fierro, Juan David Gómez Martínez &amp; </a:t>
            </a:r>
            <a:r>
              <a:rPr lang="en-US" sz="1050" dirty="0" err="1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r>
              <a:rPr lang="en-US" sz="10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Santiago Saavedra </a:t>
            </a:r>
            <a:r>
              <a:rPr lang="en-US" sz="1050" dirty="0" err="1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Chantris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problema actual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6400800" cy="4206240"/>
          </a:xfrm>
          <a:prstGeom prst="roundRect">
            <a:avLst>
              <a:gd name="adj" fmla="val 173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1920240"/>
            <a:ext cx="777240" cy="77724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clo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762" y="2122322"/>
            <a:ext cx="373075" cy="3730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192024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registro de asistencia consume tiempo de formación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5715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manifiesta inconformidad con el tiempo que se pierde registrando la asistencia mediante SENA Sofía Plus, reduciendo el tiempo disponible para el desarrollo de la formación.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868680" y="452628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1097280" y="436168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tiempo efectivo de clase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493776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1097280" y="47731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manual y repetitivo cada sesión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5349240"/>
            <a:ext cx="109728" cy="109728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Text 11"/>
          <p:cNvSpPr/>
          <p:nvPr/>
        </p:nvSpPr>
        <p:spPr>
          <a:xfrm>
            <a:off x="1097280" y="518464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de errores de digitación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7269480" y="1600200"/>
            <a:ext cx="4370832" cy="4206240"/>
          </a:xfrm>
          <a:prstGeom prst="roundRect">
            <a:avLst>
              <a:gd name="adj" fmla="val 1739"/>
            </a:avLst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Shape 13"/>
          <p:cNvSpPr/>
          <p:nvPr/>
        </p:nvSpPr>
        <p:spPr>
          <a:xfrm>
            <a:off x="7635240" y="19659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/home/claude/sena-ppt/icons/warning_darker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1661" y="213238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412480" y="2011680"/>
            <a:ext cx="3017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Sofía Plus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7635240" y="28803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 directa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7635240" y="324612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Tiempo de formación</a:t>
            </a:r>
            <a:endParaRPr lang="en-US" sz="2000" dirty="0"/>
          </a:p>
        </p:txBody>
      </p:sp>
      <p:sp>
        <p:nvSpPr>
          <p:cNvPr id="21" name="Text 17"/>
          <p:cNvSpPr/>
          <p:nvPr/>
        </p:nvSpPr>
        <p:spPr>
          <a:xfrm>
            <a:off x="7635240" y="365760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perdido en cada sesión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7635240" y="4343400"/>
            <a:ext cx="37033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registro pasa de un trámite administrativo a un proceso automático que no interrumpe la clase.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Objetivo del proyecto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68680" y="2148840"/>
            <a:ext cx="822960" cy="82296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wifi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36281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65960" y="1965960"/>
            <a:ext cx="9326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Desarrollar un sistema que permita registrar la asistencia de forma rápida y segura mediante tecnología NFC, permitiendo que cada aprendiz gestione su propio registro mientras el instructor supervisa el proceso.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9" name="Shape 6"/>
          <p:cNvSpPr/>
          <p:nvPr/>
        </p:nvSpPr>
        <p:spPr>
          <a:xfrm>
            <a:off x="80467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0" name="Image 1" descr="/home/claude/sena-ppt/icons/sign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073" y="4426793"/>
            <a:ext cx="272125" cy="27212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0467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Rapidez</a:t>
            </a:r>
            <a:endParaRPr lang="en-US" sz="1450" dirty="0"/>
          </a:p>
        </p:txBody>
      </p:sp>
      <p:sp>
        <p:nvSpPr>
          <p:cNvPr id="12" name="Text 8"/>
          <p:cNvSpPr/>
          <p:nvPr/>
        </p:nvSpPr>
        <p:spPr>
          <a:xfrm>
            <a:off x="80467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NFC en menos de 1 segundo por aprendiz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33756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359359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sena-ppt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0993" y="4426793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9359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359359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registro único, sesiones controladas y auditoría completa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612648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4"/>
          <p:cNvSpPr/>
          <p:nvPr/>
        </p:nvSpPr>
        <p:spPr>
          <a:xfrm>
            <a:off x="638251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3" descr="/home/claude/sena-ppt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4426793"/>
            <a:ext cx="272125" cy="27212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38251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Autogestión</a:t>
            </a:r>
            <a:endParaRPr lang="en-US" sz="1450" dirty="0"/>
          </a:p>
        </p:txBody>
      </p:sp>
      <p:sp>
        <p:nvSpPr>
          <p:cNvPr id="22" name="Text 16"/>
          <p:cNvSpPr/>
          <p:nvPr/>
        </p:nvSpPr>
        <p:spPr>
          <a:xfrm>
            <a:off x="638251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registra su asistencia sin intervención manual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8915400" y="4023360"/>
            <a:ext cx="260604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4" name="Shape 18"/>
          <p:cNvSpPr/>
          <p:nvPr/>
        </p:nvSpPr>
        <p:spPr>
          <a:xfrm>
            <a:off x="9171432" y="427939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4" descr="/home/claude/sena-ppt/icons/teacher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18833" y="4426793"/>
            <a:ext cx="272125" cy="272125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171432" y="4937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Supervisión</a:t>
            </a:r>
            <a:endParaRPr lang="en-US" sz="1450" dirty="0"/>
          </a:p>
        </p:txBody>
      </p:sp>
      <p:sp>
        <p:nvSpPr>
          <p:cNvPr id="27" name="Text 20"/>
          <p:cNvSpPr/>
          <p:nvPr/>
        </p:nvSpPr>
        <p:spPr>
          <a:xfrm>
            <a:off x="9171432" y="5285232"/>
            <a:ext cx="2103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mantiene el control total del proceso</a:t>
            </a:r>
            <a:endParaRPr lang="en-US" sz="1050" dirty="0"/>
          </a:p>
        </p:txBody>
      </p:sp>
      <p:sp>
        <p:nvSpPr>
          <p:cNvPr id="28" name="Text 2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Solución propuesta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aplicación web que permite registrar la asistencia mediante carnets NFC, reduciendo el tiempo de toma de asistencia y manteniendo el control del instructor.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713232" y="2368296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sena-ppt/icons/signin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633" y="2515697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214884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de instructores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2148840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6382512" y="2368296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251569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086600" y="2148840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y fin de sesiones de asistencia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548640" y="3355848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0"/>
          <p:cNvSpPr/>
          <p:nvPr/>
        </p:nvSpPr>
        <p:spPr>
          <a:xfrm>
            <a:off x="713232" y="3575304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2" descr="/home/claude/sena-ppt/icons/id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0633" y="3722705"/>
            <a:ext cx="272125" cy="27212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17320" y="33558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de asistencia mediante carnet NFC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6217920" y="3355848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Shape 13"/>
          <p:cNvSpPr/>
          <p:nvPr/>
        </p:nvSpPr>
        <p:spPr>
          <a:xfrm>
            <a:off x="6382512" y="3575304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9" name="Image 3" descr="/home/claude/sena-ppt/icons/mobil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3722705"/>
            <a:ext cx="272125" cy="27212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086600" y="3355848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Lector NFC dedicado o móvil como escáner</a:t>
            </a:r>
            <a:endParaRPr lang="en-US" sz="1300" dirty="0"/>
          </a:p>
        </p:txBody>
      </p:sp>
      <p:sp>
        <p:nvSpPr>
          <p:cNvPr id="21" name="Shape 15"/>
          <p:cNvSpPr/>
          <p:nvPr/>
        </p:nvSpPr>
        <p:spPr>
          <a:xfrm>
            <a:off x="548640" y="4562856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6"/>
          <p:cNvSpPr/>
          <p:nvPr/>
        </p:nvSpPr>
        <p:spPr>
          <a:xfrm>
            <a:off x="713232" y="478231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4" descr="/home/claude/sena-ppt/icons/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0633" y="4929713"/>
            <a:ext cx="272125" cy="272125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417320" y="4562856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único registro por aprendiz por sesión</a:t>
            </a:r>
            <a:endParaRPr lang="en-US" sz="1300" dirty="0"/>
          </a:p>
        </p:txBody>
      </p:sp>
      <p:sp>
        <p:nvSpPr>
          <p:cNvPr id="25" name="Shape 18"/>
          <p:cNvSpPr/>
          <p:nvPr/>
        </p:nvSpPr>
        <p:spPr>
          <a:xfrm>
            <a:off x="6217920" y="4562856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Shape 19"/>
          <p:cNvSpPr/>
          <p:nvPr/>
        </p:nvSpPr>
        <p:spPr>
          <a:xfrm>
            <a:off x="6382512" y="4782312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7" name="Image 5" descr="/home/claude/sena-ppt/icons/clipboard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9913" y="4929713"/>
            <a:ext cx="272125" cy="272125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86600" y="4562856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para casos excepcionales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548640" y="5769864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2"/>
          <p:cNvSpPr/>
          <p:nvPr/>
        </p:nvSpPr>
        <p:spPr>
          <a:xfrm>
            <a:off x="713232" y="5989320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6" descr="/home/claude/sena-ppt/icons/history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0633" y="6136721"/>
            <a:ext cx="272125" cy="272125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1417320" y="5769864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y generación de reportes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6217920" y="5769864"/>
            <a:ext cx="5349240" cy="1005840"/>
          </a:xfrm>
          <a:prstGeom prst="roundRect">
            <a:avLst>
              <a:gd name="adj" fmla="val 6364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Shape 25"/>
          <p:cNvSpPr/>
          <p:nvPr/>
        </p:nvSpPr>
        <p:spPr>
          <a:xfrm>
            <a:off x="6382512" y="5989320"/>
            <a:ext cx="566928" cy="56692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5" name="Image 7" descr="/home/claude/sena-ppt/icons/shield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9913" y="6136721"/>
            <a:ext cx="272125" cy="272125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86600" y="5769864"/>
            <a:ext cx="4343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 y trazabilidad del proceso</a:t>
            </a:r>
            <a:endParaRPr lang="en-US" sz="1300" dirty="0"/>
          </a:p>
        </p:txBody>
      </p:sp>
      <p:sp>
        <p:nvSpPr>
          <p:cNvPr id="37" name="Text 2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8" name="Text 2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TÉCNICO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Arquitectura general de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1997964" y="1965960"/>
            <a:ext cx="731520" cy="73152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lapto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159" y="2156155"/>
            <a:ext cx="351130" cy="3511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283464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Aplicación Web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68680" y="34930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51560" y="33375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/ finalizar sesiones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68680" y="39502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1051560" y="37947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Supervisar registros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868680" y="44074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1051560" y="42519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Gestionar registros manuales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68680" y="48646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1051560" y="47091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Historiales y reportes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868680" y="53218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1051560" y="5166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del sistema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197096" y="3794760"/>
            <a:ext cx="274320" cy="22860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4471416" y="169164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5920740" y="1965960"/>
            <a:ext cx="731520" cy="73152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1" descr="/home/claude/sena-ppt/icons/fingerprin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0935" y="2156155"/>
            <a:ext cx="351130" cy="35113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654296" y="283464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Módulo de Registro NFC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4791456" y="34930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0"/>
          <p:cNvSpPr/>
          <p:nvPr/>
        </p:nvSpPr>
        <p:spPr>
          <a:xfrm>
            <a:off x="4974336" y="33375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Enrolamiento inicial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4791456" y="39502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4974336" y="37947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carnet NFC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4791456" y="44074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4"/>
          <p:cNvSpPr/>
          <p:nvPr/>
        </p:nvSpPr>
        <p:spPr>
          <a:xfrm>
            <a:off x="4974336" y="42519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con móvil NFC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791456" y="48646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6"/>
          <p:cNvSpPr/>
          <p:nvPr/>
        </p:nvSpPr>
        <p:spPr>
          <a:xfrm>
            <a:off x="4974336" y="47091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de autoservicio</a:t>
            </a:r>
            <a:endParaRPr lang="en-US" sz="1100" dirty="0"/>
          </a:p>
        </p:txBody>
      </p:sp>
      <p:sp>
        <p:nvSpPr>
          <p:cNvPr id="31" name="Shape 27"/>
          <p:cNvSpPr/>
          <p:nvPr/>
        </p:nvSpPr>
        <p:spPr>
          <a:xfrm>
            <a:off x="8119872" y="3794760"/>
            <a:ext cx="274320" cy="22860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Shape 28"/>
          <p:cNvSpPr/>
          <p:nvPr/>
        </p:nvSpPr>
        <p:spPr>
          <a:xfrm>
            <a:off x="8394192" y="1691640"/>
            <a:ext cx="3630168" cy="4480560"/>
          </a:xfrm>
          <a:prstGeom prst="roundRect">
            <a:avLst>
              <a:gd name="adj" fmla="val 2015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3" name="Shape 29"/>
          <p:cNvSpPr/>
          <p:nvPr/>
        </p:nvSpPr>
        <p:spPr>
          <a:xfrm>
            <a:off x="9843516" y="1965960"/>
            <a:ext cx="731520" cy="73152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2" descr="/home/claude/sena-ppt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3711" y="2156155"/>
            <a:ext cx="351130" cy="351130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8577072" y="2834640"/>
            <a:ext cx="32644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8714232" y="34930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2"/>
          <p:cNvSpPr/>
          <p:nvPr/>
        </p:nvSpPr>
        <p:spPr>
          <a:xfrm>
            <a:off x="8897112" y="33375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e instructores</a:t>
            </a:r>
            <a:endParaRPr lang="en-US" sz="1100" dirty="0"/>
          </a:p>
        </p:txBody>
      </p:sp>
      <p:sp>
        <p:nvSpPr>
          <p:cNvPr id="38" name="Shape 33"/>
          <p:cNvSpPr/>
          <p:nvPr/>
        </p:nvSpPr>
        <p:spPr>
          <a:xfrm>
            <a:off x="8714232" y="39502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4"/>
          <p:cNvSpPr/>
          <p:nvPr/>
        </p:nvSpPr>
        <p:spPr>
          <a:xfrm>
            <a:off x="8897112" y="37947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y competencias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8714232" y="44074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6"/>
          <p:cNvSpPr/>
          <p:nvPr/>
        </p:nvSpPr>
        <p:spPr>
          <a:xfrm>
            <a:off x="8897112" y="42519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y registros</a:t>
            </a:r>
            <a:endParaRPr lang="en-US" sz="1100" dirty="0"/>
          </a:p>
        </p:txBody>
      </p:sp>
      <p:sp>
        <p:nvSpPr>
          <p:cNvPr id="42" name="Shape 37"/>
          <p:cNvSpPr/>
          <p:nvPr/>
        </p:nvSpPr>
        <p:spPr>
          <a:xfrm>
            <a:off x="8714232" y="48646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38"/>
          <p:cNvSpPr/>
          <p:nvPr/>
        </p:nvSpPr>
        <p:spPr>
          <a:xfrm>
            <a:off x="8897112" y="47091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Identificadores NFC</a:t>
            </a:r>
            <a:endParaRPr lang="en-US" sz="1100" dirty="0"/>
          </a:p>
        </p:txBody>
      </p:sp>
      <p:sp>
        <p:nvSpPr>
          <p:cNvPr id="44" name="Shape 39"/>
          <p:cNvSpPr/>
          <p:nvPr/>
        </p:nvSpPr>
        <p:spPr>
          <a:xfrm>
            <a:off x="8714232" y="5321808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40"/>
          <p:cNvSpPr/>
          <p:nvPr/>
        </p:nvSpPr>
        <p:spPr>
          <a:xfrm>
            <a:off x="8897112" y="5166360"/>
            <a:ext cx="28529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Auditorías del sistema</a:t>
            </a:r>
            <a:endParaRPr lang="en-US" sz="1100" dirty="0"/>
          </a:p>
        </p:txBody>
      </p:sp>
      <p:sp>
        <p:nvSpPr>
          <p:cNvPr id="46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7" name="Text 4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Inicio de sesión de asistencia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658368" y="15910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teacher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975" y="1695663"/>
            <a:ext cx="193121" cy="1931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70432" y="150876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instructor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548640" y="2286000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54864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" y="22128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sesión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999232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548640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024128" y="29260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ficha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548640" y="3712464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548640" y="3712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24128" y="36393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la competencia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548640" y="4425696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8" name="Text 15"/>
          <p:cNvSpPr/>
          <p:nvPr/>
        </p:nvSpPr>
        <p:spPr>
          <a:xfrm>
            <a:off x="548640" y="4425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24128" y="435254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 el tiempo de tolerancia (10 min. por defecto)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329184" cy="329184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8"/>
          <p:cNvSpPr/>
          <p:nvPr/>
        </p:nvSpPr>
        <p:spPr>
          <a:xfrm>
            <a:off x="548640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024128" y="50657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 la sesión de asistencia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6309360" y="1508760"/>
            <a:ext cx="5349240" cy="566928"/>
          </a:xfrm>
          <a:prstGeom prst="roundRect">
            <a:avLst>
              <a:gd name="adj" fmla="val 9677"/>
            </a:avLst>
          </a:prstGeom>
          <a:solidFill>
            <a:srgbClr val="374151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6419088" y="1591056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1" descr="/home/claude/sena-ppt/icons/cogs_gra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3695" y="1695663"/>
            <a:ext cx="193121" cy="19312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931152" y="1508760"/>
            <a:ext cx="4480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</a:t>
            </a:r>
            <a:endParaRPr lang="en-US" sz="1550" dirty="0"/>
          </a:p>
        </p:txBody>
      </p:sp>
      <p:sp>
        <p:nvSpPr>
          <p:cNvPr id="27" name="Shape 23"/>
          <p:cNvSpPr/>
          <p:nvPr/>
        </p:nvSpPr>
        <p:spPr>
          <a:xfrm>
            <a:off x="6309360" y="2286000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4"/>
          <p:cNvSpPr/>
          <p:nvPr/>
        </p:nvSpPr>
        <p:spPr>
          <a:xfrm>
            <a:off x="6309360" y="2286000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6784848" y="2212848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 la sesión de asistencia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309360" y="2999232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6309360" y="2999232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2" name="Text 28"/>
          <p:cNvSpPr/>
          <p:nvPr/>
        </p:nvSpPr>
        <p:spPr>
          <a:xfrm>
            <a:off x="6784848" y="292608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el lector NFC o el móvil como escáner</a:t>
            </a:r>
            <a:endParaRPr lang="en-US" sz="1150" dirty="0"/>
          </a:p>
        </p:txBody>
      </p:sp>
      <p:sp>
        <p:nvSpPr>
          <p:cNvPr id="33" name="Shape 29"/>
          <p:cNvSpPr/>
          <p:nvPr/>
        </p:nvSpPr>
        <p:spPr>
          <a:xfrm>
            <a:off x="6309360" y="3712464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4" name="Text 30"/>
          <p:cNvSpPr/>
          <p:nvPr/>
        </p:nvSpPr>
        <p:spPr>
          <a:xfrm>
            <a:off x="6309360" y="3712464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6784848" y="3639312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como Presente dentro del tiempo de tolerancia</a:t>
            </a:r>
            <a:endParaRPr lang="en-US" sz="1150" dirty="0"/>
          </a:p>
        </p:txBody>
      </p:sp>
      <p:sp>
        <p:nvSpPr>
          <p:cNvPr id="36" name="Shape 32"/>
          <p:cNvSpPr/>
          <p:nvPr/>
        </p:nvSpPr>
        <p:spPr>
          <a:xfrm>
            <a:off x="6309360" y="4425696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Text 33"/>
          <p:cNvSpPr/>
          <p:nvPr/>
        </p:nvSpPr>
        <p:spPr>
          <a:xfrm>
            <a:off x="6309360" y="4425696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8" name="Text 34"/>
          <p:cNvSpPr/>
          <p:nvPr/>
        </p:nvSpPr>
        <p:spPr>
          <a:xfrm>
            <a:off x="6784848" y="4352544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como Retardo fuera del tiempo de tolerancia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6309360" y="5138928"/>
            <a:ext cx="329184" cy="329184"/>
          </a:xfrm>
          <a:prstGeom prst="ellipse">
            <a:avLst/>
          </a:prstGeom>
          <a:solidFill>
            <a:srgbClr val="6B728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Text 36"/>
          <p:cNvSpPr/>
          <p:nvPr/>
        </p:nvSpPr>
        <p:spPr>
          <a:xfrm>
            <a:off x="6309360" y="5138928"/>
            <a:ext cx="3291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41" name="Text 37"/>
          <p:cNvSpPr/>
          <p:nvPr/>
        </p:nvSpPr>
        <p:spPr>
          <a:xfrm>
            <a:off x="6784848" y="5065776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Finaliza automáticamente al cumplirse la jornada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3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inicial del aprendiz (enrolamiento NFC)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 único por aprendiz, para asociar un identificador NFC (carnet o móvil) a su cuenta.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1351483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Text 5"/>
          <p:cNvSpPr/>
          <p:nvPr/>
        </p:nvSpPr>
        <p:spPr>
          <a:xfrm>
            <a:off x="1351483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32611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9" name="Image 0" descr="/home/claude/sena-ppt/icons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9032" y="3092501"/>
            <a:ext cx="307238" cy="30723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Ingresa nombre y documento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85800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aporta sus datos de identificación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74950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2812694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3615538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3615538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496666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/home/claude/sena-ppt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3086" y="3092501"/>
            <a:ext cx="307238" cy="30723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2949854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El sistema valida la información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2949854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existencia del aprendiz en la base de datos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839005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5076749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5879592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5879592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Shape 20"/>
          <p:cNvSpPr/>
          <p:nvPr/>
        </p:nvSpPr>
        <p:spPr>
          <a:xfrm>
            <a:off x="5760720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2" descr="/home/claude/sena-ppt/icons/wifi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27141" y="3092501"/>
            <a:ext cx="307238" cy="30723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213909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Acerca su carnet o móvil NFC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5213909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es leído por el lector</a:t>
            </a:r>
            <a:endParaRPr lang="en-US" sz="1000" dirty="0"/>
          </a:p>
        </p:txBody>
      </p:sp>
      <p:sp>
        <p:nvSpPr>
          <p:cNvPr id="28" name="Shape 23"/>
          <p:cNvSpPr/>
          <p:nvPr/>
        </p:nvSpPr>
        <p:spPr>
          <a:xfrm>
            <a:off x="7103059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4"/>
          <p:cNvSpPr/>
          <p:nvPr/>
        </p:nvSpPr>
        <p:spPr>
          <a:xfrm>
            <a:off x="7340803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0" name="Shape 25"/>
          <p:cNvSpPr/>
          <p:nvPr/>
        </p:nvSpPr>
        <p:spPr>
          <a:xfrm>
            <a:off x="8143646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6"/>
          <p:cNvSpPr/>
          <p:nvPr/>
        </p:nvSpPr>
        <p:spPr>
          <a:xfrm>
            <a:off x="8143646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Shape 27"/>
          <p:cNvSpPr/>
          <p:nvPr/>
        </p:nvSpPr>
        <p:spPr>
          <a:xfrm>
            <a:off x="8024774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3" descr="/home/claude/sena-ppt/icons/fingerprin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91195" y="3092501"/>
            <a:ext cx="307238" cy="307238"/>
          </a:xfrm>
          <a:prstGeom prst="rect">
            <a:avLst/>
          </a:prstGeom>
        </p:spPr>
      </p:pic>
      <p:sp>
        <p:nvSpPr>
          <p:cNvPr id="34" name="Text 28"/>
          <p:cNvSpPr/>
          <p:nvPr/>
        </p:nvSpPr>
        <p:spPr>
          <a:xfrm>
            <a:off x="7477963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Valida unicidad del identificador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7477963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asociarlo a más de un aprendiz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9367114" y="3977640"/>
            <a:ext cx="219456" cy="182880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7" name="Shape 31"/>
          <p:cNvSpPr/>
          <p:nvPr/>
        </p:nvSpPr>
        <p:spPr>
          <a:xfrm>
            <a:off x="9604858" y="2103120"/>
            <a:ext cx="2008022" cy="3566160"/>
          </a:xfrm>
          <a:prstGeom prst="roundRect">
            <a:avLst>
              <a:gd name="adj" fmla="val 3643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38" name="Shape 32"/>
          <p:cNvSpPr/>
          <p:nvPr/>
        </p:nvSpPr>
        <p:spPr>
          <a:xfrm>
            <a:off x="10407701" y="2331720"/>
            <a:ext cx="402336" cy="402336"/>
          </a:xfrm>
          <a:prstGeom prst="ellipse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10407701" y="23317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500" dirty="0"/>
          </a:p>
        </p:txBody>
      </p:sp>
      <p:sp>
        <p:nvSpPr>
          <p:cNvPr id="40" name="Shape 34"/>
          <p:cNvSpPr/>
          <p:nvPr/>
        </p:nvSpPr>
        <p:spPr>
          <a:xfrm>
            <a:off x="10288829" y="2926080"/>
            <a:ext cx="640080" cy="6400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1" name="Image 4" descr="/home/claude/sena-ppt/icons/userche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55250" y="3092501"/>
            <a:ext cx="307238" cy="307238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9742018" y="3749040"/>
            <a:ext cx="1733702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Confirma el registro exitoso</a:t>
            </a:r>
            <a:endParaRPr lang="en-US" sz="1200" dirty="0"/>
          </a:p>
        </p:txBody>
      </p:sp>
      <p:sp>
        <p:nvSpPr>
          <p:cNvPr id="43" name="Text 36"/>
          <p:cNvSpPr/>
          <p:nvPr/>
        </p:nvSpPr>
        <p:spPr>
          <a:xfrm>
            <a:off x="9742018" y="4572000"/>
            <a:ext cx="173370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identificador queda vinculado al aprendiz</a:t>
            </a:r>
            <a:endParaRPr lang="en-US" sz="1000" dirty="0"/>
          </a:p>
        </p:txBody>
      </p:sp>
      <p:sp>
        <p:nvSpPr>
          <p:cNvPr id="44" name="Text 3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5" name="Text 3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REGLAS DE NEGOCIO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Estados de asistencia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automática según la hora de registro y el tiempo de tolerancia configurado por el instructor.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3566160" cy="109728"/>
          </a:xfrm>
          <a:prstGeom prst="roundRect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1897380" y="2331720"/>
            <a:ext cx="868680" cy="86868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8" name="Image 0" descr="/home/claude/sena-ppt/icons/check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237" y="2557577"/>
            <a:ext cx="416966" cy="41696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3152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Presente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868680" y="3886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registra la asistencia dentro del tiempo de tolerancia establecido.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97680" y="19659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9"/>
          <p:cNvSpPr/>
          <p:nvPr/>
        </p:nvSpPr>
        <p:spPr>
          <a:xfrm>
            <a:off x="4297680" y="1965960"/>
            <a:ext cx="3566160" cy="109728"/>
          </a:xfrm>
          <a:prstGeom prst="roundRect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0"/>
          <p:cNvSpPr/>
          <p:nvPr/>
        </p:nvSpPr>
        <p:spPr>
          <a:xfrm>
            <a:off x="5646420" y="2331720"/>
            <a:ext cx="868680" cy="86868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1" descr="/home/claude/sena-ppt/icons/clo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2277" y="2557577"/>
            <a:ext cx="416966" cy="41696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8056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Retardo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17720" y="3886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posterior al tiempo de tolerancia. El sistema calcula el tiempo de retraso y las horas perdidas según la política institucional.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046720" y="1965960"/>
            <a:ext cx="3566160" cy="39776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8" name="Shape 14"/>
          <p:cNvSpPr/>
          <p:nvPr/>
        </p:nvSpPr>
        <p:spPr>
          <a:xfrm>
            <a:off x="8046720" y="1965960"/>
            <a:ext cx="3566160" cy="109728"/>
          </a:xfrm>
          <a:prstGeom prst="round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Shape 15"/>
          <p:cNvSpPr/>
          <p:nvPr/>
        </p:nvSpPr>
        <p:spPr>
          <a:xfrm>
            <a:off x="9395460" y="2331720"/>
            <a:ext cx="868680" cy="86868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2" descr="/home/claude/sena-ppt/icons/usertimes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1317" y="2557577"/>
            <a:ext cx="416966" cy="416966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229600" y="333756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Ausente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366760" y="3886200"/>
            <a:ext cx="292608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aprendiz no registra asistencia antes del cierre de la sesión; el sistema lo marca automáticamente.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Identificación y cierre de sesión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1E293B">
                <a:alpha val="10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Text 3"/>
          <p:cNvSpPr/>
          <p:nvPr/>
        </p:nvSpPr>
        <p:spPr>
          <a:xfrm>
            <a:off x="86868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Métodos de identificación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2331720"/>
            <a:ext cx="621792" cy="621792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7" name="Image 0" descr="/home/claude/sena-ppt/icons/idc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346" y="2493386"/>
            <a:ext cx="298460" cy="2984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45920" y="23134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institucional NFC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645920" y="262432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 física entregada al aprendiz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868680" y="3200400"/>
            <a:ext cx="621792" cy="621792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mobile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0346" y="3362066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31821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Dispositivo móvil NFC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645920" y="349300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Previamente registrado mediante enrolamiento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68680" y="411480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868680" y="42976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Ambos métodos son credenciales válidas y equivalentes para el registro de asistencia.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217920" y="1600200"/>
            <a:ext cx="5394960" cy="4434840"/>
          </a:xfrm>
          <a:prstGeom prst="roundRect">
            <a:avLst>
              <a:gd name="adj" fmla="val 1649"/>
            </a:avLst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3"/>
          <p:cNvSpPr/>
          <p:nvPr/>
        </p:nvSpPr>
        <p:spPr>
          <a:xfrm>
            <a:off x="6537960" y="178308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Cierre automático de sesión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537960" y="214884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configurable entre 5h30 y 6h según la programación académica.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537960" y="2743200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Text 16"/>
          <p:cNvSpPr/>
          <p:nvPr/>
        </p:nvSpPr>
        <p:spPr>
          <a:xfrm>
            <a:off x="6537960" y="27432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949440" y="267919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sesión de asistencia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6537960" y="3310128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Text 19"/>
          <p:cNvSpPr/>
          <p:nvPr/>
        </p:nvSpPr>
        <p:spPr>
          <a:xfrm>
            <a:off x="6537960" y="331012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6949440" y="324612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Impide nuevos registros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6537960" y="3877056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6" name="Text 22"/>
          <p:cNvSpPr/>
          <p:nvPr/>
        </p:nvSpPr>
        <p:spPr>
          <a:xfrm>
            <a:off x="6537960" y="387705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949440" y="3813048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como Ausente a quien no registró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537960" y="4443984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6537960" y="44439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6949440" y="437997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 la información de la sesión</a:t>
            </a:r>
            <a:endParaRPr lang="en-US" sz="1150" dirty="0"/>
          </a:p>
        </p:txBody>
      </p:sp>
      <p:sp>
        <p:nvSpPr>
          <p:cNvPr id="31" name="Shape 27"/>
          <p:cNvSpPr/>
          <p:nvPr/>
        </p:nvSpPr>
        <p:spPr>
          <a:xfrm>
            <a:off x="6537960" y="5010912"/>
            <a:ext cx="292608" cy="292608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8"/>
          <p:cNvSpPr/>
          <p:nvPr/>
        </p:nvSpPr>
        <p:spPr>
          <a:xfrm>
            <a:off x="6537960" y="50109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949440" y="494690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 reportes e historiales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5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GENERAL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manual y gestión de retardos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606" y="1925726"/>
            <a:ext cx="263347" cy="26334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manual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22960" y="242316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casos excepcionales: olvido o daño del carnet, o falla del lector NFC / móvil.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822960" y="3063240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822960" y="3063240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261872" y="3008376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selecciona al aprendiz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22960" y="3630168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822960" y="3630168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261872" y="3575304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 manualmente la asistencia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" y="4197096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822960" y="4197096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1261872" y="414223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Selecciona el motivo del registro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22960" y="4764024"/>
            <a:ext cx="310896" cy="310896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6"/>
          <p:cNvSpPr/>
          <p:nvPr/>
        </p:nvSpPr>
        <p:spPr>
          <a:xfrm>
            <a:off x="822960" y="476402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1261872" y="4709160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almacena instructor, fecha y hora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6217920" y="1554480"/>
            <a:ext cx="5394960" cy="4572000"/>
          </a:xfrm>
          <a:prstGeom prst="roundRect">
            <a:avLst>
              <a:gd name="adj" fmla="val 16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6492240" y="1783080"/>
            <a:ext cx="548640" cy="54864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4886" y="1925726"/>
            <a:ext cx="263347" cy="263347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178040" y="181051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retardos</a:t>
            </a:r>
            <a:endParaRPr lang="en-US" sz="1600" dirty="0"/>
          </a:p>
        </p:txBody>
      </p:sp>
      <p:sp>
        <p:nvSpPr>
          <p:cNvPr id="25" name="Text 21"/>
          <p:cNvSpPr/>
          <p:nvPr/>
        </p:nvSpPr>
        <p:spPr>
          <a:xfrm>
            <a:off x="6492240" y="242316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el registro ocurre después del tiempo de tolerancia.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6492240" y="3072384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3"/>
          <p:cNvSpPr/>
          <p:nvPr/>
        </p:nvSpPr>
        <p:spPr>
          <a:xfrm>
            <a:off x="6720840" y="2926080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 automáticamente el registro como Retardo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6492240" y="3557016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6720840" y="3410712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el tiempo de retraso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6492240" y="4041648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6720840" y="3895344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 las horas de formación perdidas</a:t>
            </a:r>
            <a:endParaRPr lang="en-US" sz="1150" dirty="0"/>
          </a:p>
        </p:txBody>
      </p:sp>
      <p:sp>
        <p:nvSpPr>
          <p:cNvPr id="32" name="Shape 28"/>
          <p:cNvSpPr/>
          <p:nvPr/>
        </p:nvSpPr>
        <p:spPr>
          <a:xfrm>
            <a:off x="6492240" y="4526280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9"/>
          <p:cNvSpPr/>
          <p:nvPr/>
        </p:nvSpPr>
        <p:spPr>
          <a:xfrm>
            <a:off x="6720840" y="4379976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 la información en el historial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6492240" y="5010912"/>
            <a:ext cx="100584" cy="10058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Text 31"/>
          <p:cNvSpPr/>
          <p:nvPr/>
        </p:nvSpPr>
        <p:spPr>
          <a:xfrm>
            <a:off x="6720840" y="4864608"/>
            <a:ext cx="4709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instructor puede modificar el estado con justificación válida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7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4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CONFIABILIDAD DEL SISTEMA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Seguridad y trazabilidad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30168" cy="4526280"/>
          </a:xfrm>
          <a:prstGeom prst="roundRect">
            <a:avLst>
              <a:gd name="adj" fmla="val 2015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77240" y="1965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fingerprint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8416" y="2137136"/>
            <a:ext cx="316017" cy="31601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único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aprendiz solo puede registrar una asistencia por sesión.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77240" y="4261104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7"/>
          <p:cNvSpPr/>
          <p:nvPr/>
        </p:nvSpPr>
        <p:spPr>
          <a:xfrm>
            <a:off x="960120" y="413308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registros duplicados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77240" y="4700016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Text 9"/>
          <p:cNvSpPr/>
          <p:nvPr/>
        </p:nvSpPr>
        <p:spPr>
          <a:xfrm>
            <a:off x="960120" y="4572000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manipulación de estadísticas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43400" y="1691640"/>
            <a:ext cx="3630168" cy="4526280"/>
          </a:xfrm>
          <a:prstGeom prst="roundRect">
            <a:avLst>
              <a:gd name="adj" fmla="val 2015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4" name="Shape 11"/>
          <p:cNvSpPr/>
          <p:nvPr/>
        </p:nvSpPr>
        <p:spPr>
          <a:xfrm>
            <a:off x="4572000" y="1965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5" name="Image 1" descr="/home/claude/sena-ppt/icons/lock_darker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3176" y="2137136"/>
            <a:ext cx="316017" cy="316017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0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Control de sesiones</a:t>
            </a:r>
            <a:endParaRPr lang="en-US" sz="1550" dirty="0"/>
          </a:p>
        </p:txBody>
      </p:sp>
      <p:sp>
        <p:nvSpPr>
          <p:cNvPr id="17" name="Text 13"/>
          <p:cNvSpPr/>
          <p:nvPr/>
        </p:nvSpPr>
        <p:spPr>
          <a:xfrm>
            <a:off x="4572000" y="32461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 registran asistencias mientras la sesión permanece activa.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0" y="4261104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4754880" y="413308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registros fuera de horario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572000" y="4700016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7"/>
          <p:cNvSpPr/>
          <p:nvPr/>
        </p:nvSpPr>
        <p:spPr>
          <a:xfrm>
            <a:off x="4754880" y="4572000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registros tras el cierre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8138160" y="1691640"/>
            <a:ext cx="3630168" cy="4526280"/>
          </a:xfrm>
          <a:prstGeom prst="roundRect">
            <a:avLst>
              <a:gd name="adj" fmla="val 2015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19"/>
          <p:cNvSpPr/>
          <p:nvPr/>
        </p:nvSpPr>
        <p:spPr>
          <a:xfrm>
            <a:off x="8366760" y="1965960"/>
            <a:ext cx="658368" cy="65836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2" descr="/home/claude/sena-ppt/icons/history_darker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37936" y="2137136"/>
            <a:ext cx="316017" cy="316017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366760" y="2743200"/>
            <a:ext cx="31729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Auditoría de registros manuales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8366760" y="3246120"/>
            <a:ext cx="31729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manual queda registrada en su totalidad.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366760" y="4261104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8" name="Text 23"/>
          <p:cNvSpPr/>
          <p:nvPr/>
        </p:nvSpPr>
        <p:spPr>
          <a:xfrm>
            <a:off x="8549640" y="4133088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Instructor, fecha y hora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366760" y="4700016"/>
            <a:ext cx="91440" cy="914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Text 25"/>
          <p:cNvSpPr/>
          <p:nvPr/>
        </p:nvSpPr>
        <p:spPr>
          <a:xfrm>
            <a:off x="8549640" y="4572000"/>
            <a:ext cx="299008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del registro</a:t>
            </a:r>
            <a:endParaRPr lang="en-US" sz="1050" dirty="0"/>
          </a:p>
        </p:txBody>
      </p:sp>
      <p:sp>
        <p:nvSpPr>
          <p:cNvPr id="31" name="Text 2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2" name="Text 2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RIESGOS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Riesgos identificados y soluciones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190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1849831"/>
            <a:ext cx="241402" cy="24140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664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Olvido del carnet NFC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68096" y="22677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051560" y="2121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autorizado por el instructor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172200" y="15544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1" name="Shape 8"/>
          <p:cNvSpPr/>
          <p:nvPr/>
        </p:nvSpPr>
        <p:spPr>
          <a:xfrm>
            <a:off x="6336792" y="17190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2" name="Image 1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1849831"/>
            <a:ext cx="241402" cy="24140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995160" y="16642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del carnet NFC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6391656" y="22677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1"/>
          <p:cNvSpPr/>
          <p:nvPr/>
        </p:nvSpPr>
        <p:spPr>
          <a:xfrm>
            <a:off x="6675120" y="21214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autorizado por el instructor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548640" y="29260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3"/>
          <p:cNvSpPr/>
          <p:nvPr/>
        </p:nvSpPr>
        <p:spPr>
          <a:xfrm>
            <a:off x="713232" y="30906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2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3221431"/>
            <a:ext cx="241402" cy="24140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0358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del lector NFC o del móvil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768096" y="36393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Text 16"/>
          <p:cNvSpPr/>
          <p:nvPr/>
        </p:nvSpPr>
        <p:spPr>
          <a:xfrm>
            <a:off x="1051560" y="34930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Continuar el registro mediante el mecanismo manual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6172200" y="29260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3" name="Shape 18"/>
          <p:cNvSpPr/>
          <p:nvPr/>
        </p:nvSpPr>
        <p:spPr>
          <a:xfrm>
            <a:off x="6336792" y="30906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4" name="Image 3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3221431"/>
            <a:ext cx="241402" cy="24140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30358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 de registrar dos veces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6391656" y="36393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7" name="Text 21"/>
          <p:cNvSpPr/>
          <p:nvPr/>
        </p:nvSpPr>
        <p:spPr>
          <a:xfrm>
            <a:off x="6675120" y="34930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rechaza registros duplicados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548640" y="42976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9" name="Shape 23"/>
          <p:cNvSpPr/>
          <p:nvPr/>
        </p:nvSpPr>
        <p:spPr>
          <a:xfrm>
            <a:off x="713232" y="4462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4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991" y="4593031"/>
            <a:ext cx="241402" cy="24140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371600" y="4407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 que llega tarde</a:t>
            </a:r>
            <a:endParaRPr lang="en-US" sz="1200" dirty="0"/>
          </a:p>
        </p:txBody>
      </p:sp>
      <p:sp>
        <p:nvSpPr>
          <p:cNvPr id="32" name="Shape 25"/>
          <p:cNvSpPr/>
          <p:nvPr/>
        </p:nvSpPr>
        <p:spPr>
          <a:xfrm>
            <a:off x="768096" y="50109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3" name="Text 26"/>
          <p:cNvSpPr/>
          <p:nvPr/>
        </p:nvSpPr>
        <p:spPr>
          <a:xfrm>
            <a:off x="1051560" y="48646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Clasificación automática como Retardo; el instructor puede justificar</a:t>
            </a:r>
            <a:endParaRPr lang="en-US" sz="1050" dirty="0"/>
          </a:p>
        </p:txBody>
      </p:sp>
      <p:sp>
        <p:nvSpPr>
          <p:cNvPr id="34" name="Shape 27"/>
          <p:cNvSpPr/>
          <p:nvPr/>
        </p:nvSpPr>
        <p:spPr>
          <a:xfrm>
            <a:off x="6172200" y="4297680"/>
            <a:ext cx="5440680" cy="1207008"/>
          </a:xfrm>
          <a:prstGeom prst="roundRect">
            <a:avLst>
              <a:gd name="adj" fmla="val 53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Shape 28"/>
          <p:cNvSpPr/>
          <p:nvPr/>
        </p:nvSpPr>
        <p:spPr>
          <a:xfrm>
            <a:off x="6336792" y="4462272"/>
            <a:ext cx="502920" cy="502920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5" descr="/home/claude/sena-ppt/icons/warn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7551" y="4593031"/>
            <a:ext cx="241402" cy="24140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6995160" y="4407408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NFC ya asociado a otro aprendiz</a:t>
            </a:r>
            <a:endParaRPr lang="en-US" sz="1200" dirty="0"/>
          </a:p>
        </p:txBody>
      </p:sp>
      <p:sp>
        <p:nvSpPr>
          <p:cNvPr id="38" name="Shape 30"/>
          <p:cNvSpPr/>
          <p:nvPr/>
        </p:nvSpPr>
        <p:spPr>
          <a:xfrm>
            <a:off x="6391656" y="5010912"/>
            <a:ext cx="201168" cy="146304"/>
          </a:xfrm>
          <a:prstGeom prst="rightArrow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1"/>
          <p:cNvSpPr/>
          <p:nvPr/>
        </p:nvSpPr>
        <p:spPr>
          <a:xfrm>
            <a:off x="6675120" y="4864608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rechaza el registro e informa el conflicto</a:t>
            </a:r>
            <a:endParaRPr lang="en-US" sz="1050" dirty="0"/>
          </a:p>
        </p:txBody>
      </p:sp>
      <p:sp>
        <p:nvSpPr>
          <p:cNvPr id="40" name="Text 3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funcionales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tasks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836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805940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29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funcionales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731520" y="30632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signin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279" y="3193999"/>
            <a:ext cx="241402" cy="24140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152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Sesión y control del instructor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73152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Iniciar/finalizar sesión, tolerancia configurable, autenticación.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297680" y="2880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4480560" y="30632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sena-ppt/icons/idcar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1319" y="3193999"/>
            <a:ext cx="241402" cy="24140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48056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NFC del aprendiz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448056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Identificación automática, fecha/hora, confirmación, un único registro.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8046720" y="28803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8229600" y="30632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sena-ppt/icons/clock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0359" y="3193999"/>
            <a:ext cx="241402" cy="24140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229600" y="37033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Estados y cálculos automáticos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8229600" y="40690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 / Retardo / Ausente, tiempo de retraso, horas perdidas.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548640" y="4937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731520" y="51206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sena-ppt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2279" y="5251399"/>
            <a:ext cx="241402" cy="24140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1520" y="5760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manual y excepciones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31520" y="6126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 del registro, continuidad ante fallas del lector.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4297680" y="4937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4480560" y="51206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home/claude/sena-ppt/icons/fingerprin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11319" y="5251399"/>
            <a:ext cx="241402" cy="24140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4480560" y="5760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Enrolamiento NFC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4480560" y="6126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aprendiz, unicidad del identificador, vinculación.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8046720" y="4937760"/>
            <a:ext cx="3566160" cy="1874520"/>
          </a:xfrm>
          <a:prstGeom prst="roundRect">
            <a:avLst>
              <a:gd name="adj" fmla="val 3415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8229600" y="5120640"/>
            <a:ext cx="502920" cy="50292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home/claude/sena-ppt/icons/char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60359" y="5251399"/>
            <a:ext cx="241402" cy="241402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8229600" y="576072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 e historiales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8229600" y="6126480"/>
            <a:ext cx="3200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por ficha, aprendiz y fecha; medio de registro utilizado.</a:t>
            </a:r>
            <a:endParaRPr lang="en-US" sz="1000" dirty="0"/>
          </a:p>
        </p:txBody>
      </p:sp>
      <p:sp>
        <p:nvSpPr>
          <p:cNvPr id="39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0" name="Text 3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Requisitos no funcionales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92024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713232" y="176479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6" name="Image 0" descr="/home/claude/sena-ppt/icons/shield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" y="188366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9304" y="1810512"/>
            <a:ext cx="15910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713232" y="2359152"/>
            <a:ext cx="15910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 no funcionales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Shape 7"/>
          <p:cNvSpPr/>
          <p:nvPr/>
        </p:nvSpPr>
        <p:spPr>
          <a:xfrm>
            <a:off x="1568196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1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0842" y="322417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5800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≤ 1 segundo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85800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lectura NFC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300984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Shape 11"/>
          <p:cNvSpPr/>
          <p:nvPr/>
        </p:nvSpPr>
        <p:spPr>
          <a:xfrm>
            <a:off x="4320540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6" name="Image 2" descr="/home/claude/sena-ppt/icons/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63186" y="3224174"/>
            <a:ext cx="263347" cy="263347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438144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≥ 99%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3438144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Precisión de lecturas NFC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053328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5"/>
          <p:cNvSpPr/>
          <p:nvPr/>
        </p:nvSpPr>
        <p:spPr>
          <a:xfrm>
            <a:off x="7072884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1" name="Image 3" descr="/home/claude/sena-ppt/icons/users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530" y="3224174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190488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40 aprendices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6190488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degradar el rendimiento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805672" y="288036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19"/>
          <p:cNvSpPr/>
          <p:nvPr/>
        </p:nvSpPr>
        <p:spPr>
          <a:xfrm>
            <a:off x="9825228" y="308152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sena-ppt/icons/lock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67874" y="3224174"/>
            <a:ext cx="263347" cy="263347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942832" y="379476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Solo autorizados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8942832" y="420624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Inicio/fin de sesión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548640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0" name="Shape 23"/>
          <p:cNvSpPr/>
          <p:nvPr/>
        </p:nvSpPr>
        <p:spPr>
          <a:xfrm>
            <a:off x="1568196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1" name="Image 5" descr="/home/claude/sena-ppt/icons/history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10842" y="5373014"/>
            <a:ext cx="263347" cy="263347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85800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Auditoría total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685800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Asociaciones y cambios NFC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3300984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5" name="Shape 27"/>
          <p:cNvSpPr/>
          <p:nvPr/>
        </p:nvSpPr>
        <p:spPr>
          <a:xfrm>
            <a:off x="4320540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6" name="Image 6" descr="/home/claude/sena-ppt/icons/database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63186" y="5373014"/>
            <a:ext cx="263347" cy="26334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3438144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Datos seguros</a:t>
            </a:r>
            <a:endParaRPr lang="en-US" sz="1600" dirty="0"/>
          </a:p>
        </p:txBody>
      </p:sp>
      <p:sp>
        <p:nvSpPr>
          <p:cNvPr id="38" name="Text 29"/>
          <p:cNvSpPr/>
          <p:nvPr/>
        </p:nvSpPr>
        <p:spPr>
          <a:xfrm>
            <a:off x="3438144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Almacenamiento protegido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053328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0" name="Shape 31"/>
          <p:cNvSpPr/>
          <p:nvPr/>
        </p:nvSpPr>
        <p:spPr>
          <a:xfrm>
            <a:off x="7072884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1" name="Image 7" descr="/home/claude/sena-ppt/icons/fingerprin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15530" y="5373014"/>
            <a:ext cx="263347" cy="263347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190488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Identificador único</a:t>
            </a:r>
            <a:endParaRPr lang="en-US" sz="1600" dirty="0"/>
          </a:p>
        </p:txBody>
      </p:sp>
      <p:sp>
        <p:nvSpPr>
          <p:cNvPr id="43" name="Text 33"/>
          <p:cNvSpPr/>
          <p:nvPr/>
        </p:nvSpPr>
        <p:spPr>
          <a:xfrm>
            <a:off x="6190488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NFC, un solo aprendiz</a:t>
            </a:r>
            <a:endParaRPr lang="en-US" sz="1000" dirty="0"/>
          </a:p>
        </p:txBody>
      </p:sp>
      <p:sp>
        <p:nvSpPr>
          <p:cNvPr id="44" name="Shape 34"/>
          <p:cNvSpPr/>
          <p:nvPr/>
        </p:nvSpPr>
        <p:spPr>
          <a:xfrm>
            <a:off x="8805672" y="5029200"/>
            <a:ext cx="2587752" cy="1965960"/>
          </a:xfrm>
          <a:prstGeom prst="roundRect">
            <a:avLst>
              <a:gd name="adj" fmla="val 3256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Shape 35"/>
          <p:cNvSpPr/>
          <p:nvPr/>
        </p:nvSpPr>
        <p:spPr>
          <a:xfrm>
            <a:off x="9825228" y="5230368"/>
            <a:ext cx="548640" cy="54864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6" name="Image 8" descr="/home/claude/sena-ppt/icons/cogs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67874" y="5373014"/>
            <a:ext cx="263347" cy="263347"/>
          </a:xfrm>
          <a:prstGeom prst="rect">
            <a:avLst/>
          </a:prstGeom>
        </p:spPr>
      </p:pic>
      <p:sp>
        <p:nvSpPr>
          <p:cNvPr id="47" name="Text 36"/>
          <p:cNvSpPr/>
          <p:nvPr/>
        </p:nvSpPr>
        <p:spPr>
          <a:xfrm>
            <a:off x="8942832" y="5943600"/>
            <a:ext cx="231343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Tiempo real</a:t>
            </a:r>
            <a:endParaRPr lang="en-US" sz="1600" dirty="0"/>
          </a:p>
        </p:txBody>
      </p:sp>
      <p:sp>
        <p:nvSpPr>
          <p:cNvPr id="48" name="Text 37"/>
          <p:cNvSpPr/>
          <p:nvPr/>
        </p:nvSpPr>
        <p:spPr>
          <a:xfrm>
            <a:off x="8942832" y="6355080"/>
            <a:ext cx="231343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Actualización de estados en vivo</a:t>
            </a:r>
            <a:endParaRPr lang="en-US" sz="1000" dirty="0"/>
          </a:p>
        </p:txBody>
      </p:sp>
      <p:sp>
        <p:nvSpPr>
          <p:cNvPr id="49" name="Text 38"/>
          <p:cNvSpPr/>
          <p:nvPr/>
        </p:nvSpPr>
        <p:spPr>
          <a:xfrm>
            <a:off x="527609" y="6677173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50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Dashboard principal del sistema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5074920"/>
          </a:xfrm>
          <a:prstGeom prst="roundRect">
            <a:avLst>
              <a:gd name="adj" fmla="val 16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3619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3619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3619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asistencias.sena.edu.co / dashboard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1947672"/>
            <a:ext cx="1737360" cy="4544568"/>
          </a:xfrm>
          <a:prstGeom prst="rect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737360" cy="457200"/>
          </a:xfrm>
          <a:prstGeom prst="rect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Shape 11"/>
          <p:cNvSpPr/>
          <p:nvPr/>
        </p:nvSpPr>
        <p:spPr>
          <a:xfrm>
            <a:off x="749808" y="2221992"/>
            <a:ext cx="329184" cy="329184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4" name="Image 0" descr="/home/claude/sena-ppt/icons/signin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96" y="2307580"/>
            <a:ext cx="158008" cy="15800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70432" y="220370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49808" y="2788920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7" name="Image 1" descr="/home/claude/sena-ppt/icons/clo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5396" y="2874508"/>
            <a:ext cx="158008" cy="15800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1170432" y="2770632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749808" y="3355848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0" name="Image 2" descr="/home/claude/sena-ppt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396" y="3441436"/>
            <a:ext cx="158008" cy="1580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170432" y="3337560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749808" y="3922776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3" descr="/home/claude/sena-ppt/icon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396" y="4008364"/>
            <a:ext cx="158008" cy="1580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70432" y="3904488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749808" y="4489704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4" descr="/home/claude/sena-ppt/icons/bell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396" y="4575292"/>
            <a:ext cx="158008" cy="1580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70432" y="4471416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</a:t>
            </a:r>
            <a:endParaRPr lang="en-US" sz="950" dirty="0"/>
          </a:p>
        </p:txBody>
      </p:sp>
      <p:sp>
        <p:nvSpPr>
          <p:cNvPr id="28" name="Shape 21"/>
          <p:cNvSpPr/>
          <p:nvPr/>
        </p:nvSpPr>
        <p:spPr>
          <a:xfrm>
            <a:off x="749808" y="5056632"/>
            <a:ext cx="329184" cy="329184"/>
          </a:xfrm>
          <a:prstGeom prst="ellipse">
            <a:avLst/>
          </a:prstGeom>
          <a:solidFill>
            <a:srgbClr val="2A7A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9" name="Image 5" descr="/home/claude/sena-ppt/icons/cogs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5396" y="5142220"/>
            <a:ext cx="158008" cy="158008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170432" y="5038344"/>
            <a:ext cx="1051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Ajustes</a:t>
            </a:r>
            <a:endParaRPr lang="en-US" sz="950" dirty="0"/>
          </a:p>
        </p:txBody>
      </p:sp>
      <p:sp>
        <p:nvSpPr>
          <p:cNvPr id="31" name="Shape 23"/>
          <p:cNvSpPr/>
          <p:nvPr/>
        </p:nvSpPr>
        <p:spPr>
          <a:xfrm>
            <a:off x="2514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4"/>
          <p:cNvSpPr/>
          <p:nvPr/>
        </p:nvSpPr>
        <p:spPr>
          <a:xfrm>
            <a:off x="2679192" y="2157984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6" descr="/home/claude/sena-ppt/icons/check_gree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98064" y="2276856"/>
            <a:ext cx="219456" cy="219456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291840" y="2203704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38/40</a:t>
            </a:r>
            <a:endParaRPr lang="en-US" sz="2200" dirty="0"/>
          </a:p>
        </p:txBody>
      </p:sp>
      <p:sp>
        <p:nvSpPr>
          <p:cNvPr id="35" name="Text 26"/>
          <p:cNvSpPr/>
          <p:nvPr/>
        </p:nvSpPr>
        <p:spPr>
          <a:xfrm>
            <a:off x="2679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 hoy</a:t>
            </a:r>
            <a:endParaRPr lang="en-US" sz="1050" dirty="0"/>
          </a:p>
        </p:txBody>
      </p:sp>
      <p:sp>
        <p:nvSpPr>
          <p:cNvPr id="36" name="Shape 27"/>
          <p:cNvSpPr/>
          <p:nvPr/>
        </p:nvSpPr>
        <p:spPr>
          <a:xfrm>
            <a:off x="4800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28"/>
          <p:cNvSpPr/>
          <p:nvPr/>
        </p:nvSpPr>
        <p:spPr>
          <a:xfrm>
            <a:off x="4965192" y="2157984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7" descr="/home/claude/sena-ppt/icons/clock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4064" y="2276856"/>
            <a:ext cx="219456" cy="219456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532120" y="219456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200" dirty="0"/>
          </a:p>
        </p:txBody>
      </p:sp>
      <p:sp>
        <p:nvSpPr>
          <p:cNvPr id="40" name="Text 30"/>
          <p:cNvSpPr/>
          <p:nvPr/>
        </p:nvSpPr>
        <p:spPr>
          <a:xfrm>
            <a:off x="4965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retardo</a:t>
            </a:r>
            <a:endParaRPr lang="en-US" sz="1050" dirty="0"/>
          </a:p>
        </p:txBody>
      </p:sp>
      <p:sp>
        <p:nvSpPr>
          <p:cNvPr id="41" name="Shape 31"/>
          <p:cNvSpPr/>
          <p:nvPr/>
        </p:nvSpPr>
        <p:spPr>
          <a:xfrm>
            <a:off x="7086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2" name="Shape 32"/>
          <p:cNvSpPr/>
          <p:nvPr/>
        </p:nvSpPr>
        <p:spPr>
          <a:xfrm>
            <a:off x="7251192" y="2157984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3" name="Image 8" descr="/home/claude/sena-ppt/icons/usertimes_r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70064" y="2276856"/>
            <a:ext cx="219456" cy="219456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842380" y="2194560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200" dirty="0"/>
          </a:p>
        </p:txBody>
      </p:sp>
      <p:sp>
        <p:nvSpPr>
          <p:cNvPr id="45" name="Text 34"/>
          <p:cNvSpPr/>
          <p:nvPr/>
        </p:nvSpPr>
        <p:spPr>
          <a:xfrm>
            <a:off x="7251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endParaRPr lang="en-US" sz="1050" dirty="0"/>
          </a:p>
        </p:txBody>
      </p:sp>
      <p:sp>
        <p:nvSpPr>
          <p:cNvPr id="46" name="Shape 35"/>
          <p:cNvSpPr/>
          <p:nvPr/>
        </p:nvSpPr>
        <p:spPr>
          <a:xfrm>
            <a:off x="9372600" y="1993392"/>
            <a:ext cx="2121408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36"/>
          <p:cNvSpPr/>
          <p:nvPr/>
        </p:nvSpPr>
        <p:spPr>
          <a:xfrm>
            <a:off x="9537192" y="2157984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8" name="Image 9" descr="/home/claude/sena-ppt/icons/cogs_dark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56064" y="2276856"/>
            <a:ext cx="219456" cy="219456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10158984" y="2208276"/>
            <a:ext cx="17922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min</a:t>
            </a:r>
            <a:endParaRPr lang="en-US" sz="2200" dirty="0"/>
          </a:p>
        </p:txBody>
      </p:sp>
      <p:sp>
        <p:nvSpPr>
          <p:cNvPr id="50" name="Text 38"/>
          <p:cNvSpPr/>
          <p:nvPr/>
        </p:nvSpPr>
        <p:spPr>
          <a:xfrm>
            <a:off x="9537192" y="2660904"/>
            <a:ext cx="17922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activa</a:t>
            </a:r>
            <a:endParaRPr lang="en-US" sz="1050" dirty="0"/>
          </a:p>
        </p:txBody>
      </p:sp>
      <p:sp>
        <p:nvSpPr>
          <p:cNvPr id="51" name="Shape 39"/>
          <p:cNvSpPr/>
          <p:nvPr/>
        </p:nvSpPr>
        <p:spPr>
          <a:xfrm>
            <a:off x="2514600" y="3090672"/>
            <a:ext cx="55321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Text 40"/>
          <p:cNvSpPr/>
          <p:nvPr/>
        </p:nvSpPr>
        <p:spPr>
          <a:xfrm>
            <a:off x="2697480" y="3182112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por ficha — semana actual</a:t>
            </a:r>
            <a:endParaRPr lang="en-US" sz="1050" dirty="0"/>
          </a:p>
        </p:txBody>
      </p:sp>
      <p:graphicFrame>
        <p:nvGraphicFramePr>
          <p:cNvPr id="53" name="Chart 0"/>
          <p:cNvGraphicFramePr/>
          <p:nvPr/>
        </p:nvGraphicFramePr>
        <p:xfrm>
          <a:off x="2651760" y="3456432"/>
          <a:ext cx="525780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54" name="Shape 41"/>
          <p:cNvSpPr/>
          <p:nvPr/>
        </p:nvSpPr>
        <p:spPr>
          <a:xfrm>
            <a:off x="8183880" y="3090672"/>
            <a:ext cx="3017520" cy="2834640"/>
          </a:xfrm>
          <a:prstGeom prst="roundRect">
            <a:avLst>
              <a:gd name="adj" fmla="val 193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5" name="Text 42"/>
          <p:cNvSpPr/>
          <p:nvPr/>
        </p:nvSpPr>
        <p:spPr>
          <a:xfrm>
            <a:off x="8366760" y="318211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activas</a:t>
            </a:r>
            <a:endParaRPr lang="en-US" sz="1050" dirty="0"/>
          </a:p>
        </p:txBody>
      </p:sp>
      <p:sp>
        <p:nvSpPr>
          <p:cNvPr id="56" name="Shape 43"/>
          <p:cNvSpPr/>
          <p:nvPr/>
        </p:nvSpPr>
        <p:spPr>
          <a:xfrm>
            <a:off x="8366760" y="3547872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44"/>
          <p:cNvSpPr/>
          <p:nvPr/>
        </p:nvSpPr>
        <p:spPr>
          <a:xfrm>
            <a:off x="8503920" y="360273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— ADSO</a:t>
            </a:r>
            <a:endParaRPr lang="en-US" sz="950" dirty="0"/>
          </a:p>
        </p:txBody>
      </p:sp>
      <p:sp>
        <p:nvSpPr>
          <p:cNvPr id="58" name="Shape 45"/>
          <p:cNvSpPr/>
          <p:nvPr/>
        </p:nvSpPr>
        <p:spPr>
          <a:xfrm>
            <a:off x="8503920" y="387705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46"/>
          <p:cNvSpPr/>
          <p:nvPr/>
        </p:nvSpPr>
        <p:spPr>
          <a:xfrm>
            <a:off x="8503920" y="386791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</a:t>
            </a:r>
            <a:endParaRPr lang="en-US" sz="1050" dirty="0"/>
          </a:p>
        </p:txBody>
      </p:sp>
      <p:sp>
        <p:nvSpPr>
          <p:cNvPr id="60" name="Shape 47"/>
          <p:cNvSpPr/>
          <p:nvPr/>
        </p:nvSpPr>
        <p:spPr>
          <a:xfrm>
            <a:off x="8366760" y="4416552"/>
            <a:ext cx="2651760" cy="685800"/>
          </a:xfrm>
          <a:prstGeom prst="roundRect">
            <a:avLst>
              <a:gd name="adj" fmla="val 6667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1" name="Text 48"/>
          <p:cNvSpPr/>
          <p:nvPr/>
        </p:nvSpPr>
        <p:spPr>
          <a:xfrm>
            <a:off x="8503920" y="447141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2876543 — TeSis</a:t>
            </a:r>
            <a:endParaRPr lang="en-US" sz="950" dirty="0"/>
          </a:p>
        </p:txBody>
      </p:sp>
      <p:sp>
        <p:nvSpPr>
          <p:cNvPr id="62" name="Shape 49"/>
          <p:cNvSpPr/>
          <p:nvPr/>
        </p:nvSpPr>
        <p:spPr>
          <a:xfrm>
            <a:off x="8503920" y="4745736"/>
            <a:ext cx="12801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3" name="Text 50"/>
          <p:cNvSpPr/>
          <p:nvPr/>
        </p:nvSpPr>
        <p:spPr>
          <a:xfrm>
            <a:off x="8503920" y="473659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finalizar</a:t>
            </a:r>
            <a:endParaRPr lang="en-US" sz="1050" dirty="0"/>
          </a:p>
        </p:txBody>
      </p:sp>
      <p:sp>
        <p:nvSpPr>
          <p:cNvPr id="64" name="Text 5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65" name="Text 5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Registro automático de asistencia (NFC)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49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49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5349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Terminal NFC — Ficha 3413974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194560" y="2331720"/>
            <a:ext cx="2057400" cy="20574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2514600" y="2651760"/>
            <a:ext cx="1417320" cy="141732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39A90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wifi_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4640" y="2971800"/>
            <a:ext cx="777240" cy="77724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22960" y="4572000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Acerca tu carnet o dispositivo NFC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22960" y="4937760"/>
            <a:ext cx="4800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Esperando lectura…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1280160" y="5440680"/>
            <a:ext cx="3886200" cy="777240"/>
          </a:xfrm>
          <a:prstGeom prst="roundRect">
            <a:avLst>
              <a:gd name="adj" fmla="val 47059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7" name="Text 14"/>
          <p:cNvSpPr/>
          <p:nvPr/>
        </p:nvSpPr>
        <p:spPr>
          <a:xfrm>
            <a:off x="1280160" y="5440680"/>
            <a:ext cx="3886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09:14:22  ·  Tiempo de tolerancia: 10 min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126480" y="1463040"/>
            <a:ext cx="548640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19" name="Shape 16"/>
          <p:cNvSpPr/>
          <p:nvPr/>
        </p:nvSpPr>
        <p:spPr>
          <a:xfrm>
            <a:off x="6126480" y="1463040"/>
            <a:ext cx="548640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0" name="Shape 17"/>
          <p:cNvSpPr/>
          <p:nvPr/>
        </p:nvSpPr>
        <p:spPr>
          <a:xfrm>
            <a:off x="6126480" y="1645920"/>
            <a:ext cx="548640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8"/>
          <p:cNvSpPr/>
          <p:nvPr/>
        </p:nvSpPr>
        <p:spPr>
          <a:xfrm>
            <a:off x="626364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2" name="Shape 19"/>
          <p:cNvSpPr/>
          <p:nvPr/>
        </p:nvSpPr>
        <p:spPr>
          <a:xfrm>
            <a:off x="646480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3" name="Shape 20"/>
          <p:cNvSpPr/>
          <p:nvPr/>
        </p:nvSpPr>
        <p:spPr>
          <a:xfrm>
            <a:off x="666597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4" name="Text 21"/>
          <p:cNvSpPr/>
          <p:nvPr/>
        </p:nvSpPr>
        <p:spPr>
          <a:xfrm>
            <a:off x="7040880" y="1463040"/>
            <a:ext cx="4206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del instructor — en vivo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400800" y="1965960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6" name="Shape 23"/>
          <p:cNvSpPr/>
          <p:nvPr/>
        </p:nvSpPr>
        <p:spPr>
          <a:xfrm>
            <a:off x="6537960" y="208483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7" name="Image 1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2203704"/>
            <a:ext cx="219456" cy="219456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7132320" y="2039112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Ramírez</a:t>
            </a:r>
            <a:endParaRPr lang="en-US" sz="1150" dirty="0"/>
          </a:p>
        </p:txBody>
      </p:sp>
      <p:sp>
        <p:nvSpPr>
          <p:cNvPr id="29" name="Text 25"/>
          <p:cNvSpPr/>
          <p:nvPr/>
        </p:nvSpPr>
        <p:spPr>
          <a:xfrm>
            <a:off x="7132320" y="2313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09:12:03</a:t>
            </a:r>
            <a:endParaRPr lang="en-US" sz="950" dirty="0"/>
          </a:p>
        </p:txBody>
      </p:sp>
      <p:sp>
        <p:nvSpPr>
          <p:cNvPr id="30" name="Shape 26"/>
          <p:cNvSpPr/>
          <p:nvPr/>
        </p:nvSpPr>
        <p:spPr>
          <a:xfrm>
            <a:off x="10378440" y="21762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1" name="Text 27"/>
          <p:cNvSpPr/>
          <p:nvPr/>
        </p:nvSpPr>
        <p:spPr>
          <a:xfrm>
            <a:off x="10378440" y="2167128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6400800" y="2807208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3" name="Shape 29"/>
          <p:cNvSpPr/>
          <p:nvPr/>
        </p:nvSpPr>
        <p:spPr>
          <a:xfrm>
            <a:off x="6537960" y="2926080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4" name="Image 2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3044952"/>
            <a:ext cx="219456" cy="219456"/>
          </a:xfrm>
          <a:prstGeom prst="rect">
            <a:avLst/>
          </a:prstGeom>
        </p:spPr>
      </p:pic>
      <p:sp>
        <p:nvSpPr>
          <p:cNvPr id="35" name="Text 30"/>
          <p:cNvSpPr/>
          <p:nvPr/>
        </p:nvSpPr>
        <p:spPr>
          <a:xfrm>
            <a:off x="7132320" y="2880360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Andrés Peña</a:t>
            </a:r>
            <a:endParaRPr lang="en-US" sz="1150" dirty="0"/>
          </a:p>
        </p:txBody>
      </p:sp>
      <p:sp>
        <p:nvSpPr>
          <p:cNvPr id="36" name="Text 31"/>
          <p:cNvSpPr/>
          <p:nvPr/>
        </p:nvSpPr>
        <p:spPr>
          <a:xfrm>
            <a:off x="7132320" y="315468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09:13:41</a:t>
            </a:r>
            <a:endParaRPr lang="en-US" sz="950" dirty="0"/>
          </a:p>
        </p:txBody>
      </p:sp>
      <p:sp>
        <p:nvSpPr>
          <p:cNvPr id="37" name="Shape 32"/>
          <p:cNvSpPr/>
          <p:nvPr/>
        </p:nvSpPr>
        <p:spPr>
          <a:xfrm>
            <a:off x="10378440" y="3017520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3"/>
          <p:cNvSpPr/>
          <p:nvPr/>
        </p:nvSpPr>
        <p:spPr>
          <a:xfrm>
            <a:off x="10378440" y="3008376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39" name="Shape 34"/>
          <p:cNvSpPr/>
          <p:nvPr/>
        </p:nvSpPr>
        <p:spPr>
          <a:xfrm>
            <a:off x="6400800" y="3648456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0" name="Shape 35"/>
          <p:cNvSpPr/>
          <p:nvPr/>
        </p:nvSpPr>
        <p:spPr>
          <a:xfrm>
            <a:off x="6537960" y="3767328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1" name="Image 3" descr="/home/claude/sena-ppt/icons/c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6832" y="3886200"/>
            <a:ext cx="219456" cy="219456"/>
          </a:xfrm>
          <a:prstGeom prst="rect">
            <a:avLst/>
          </a:prstGeom>
        </p:spPr>
      </p:pic>
      <p:sp>
        <p:nvSpPr>
          <p:cNvPr id="42" name="Text 36"/>
          <p:cNvSpPr/>
          <p:nvPr/>
        </p:nvSpPr>
        <p:spPr>
          <a:xfrm>
            <a:off x="7132320" y="3721608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Ruiz</a:t>
            </a:r>
            <a:endParaRPr lang="en-US" sz="1150" dirty="0"/>
          </a:p>
        </p:txBody>
      </p:sp>
      <p:sp>
        <p:nvSpPr>
          <p:cNvPr id="43" name="Text 37"/>
          <p:cNvSpPr/>
          <p:nvPr/>
        </p:nvSpPr>
        <p:spPr>
          <a:xfrm>
            <a:off x="7132320" y="399592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09:24:10</a:t>
            </a:r>
            <a:endParaRPr lang="en-US" sz="950" dirty="0"/>
          </a:p>
        </p:txBody>
      </p:sp>
      <p:sp>
        <p:nvSpPr>
          <p:cNvPr id="44" name="Shape 38"/>
          <p:cNvSpPr/>
          <p:nvPr/>
        </p:nvSpPr>
        <p:spPr>
          <a:xfrm>
            <a:off x="10378440" y="3858768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5" name="Text 39"/>
          <p:cNvSpPr/>
          <p:nvPr/>
        </p:nvSpPr>
        <p:spPr>
          <a:xfrm>
            <a:off x="10378440" y="3849624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46" name="Shape 40"/>
          <p:cNvSpPr/>
          <p:nvPr/>
        </p:nvSpPr>
        <p:spPr>
          <a:xfrm>
            <a:off x="6400800" y="4489704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7" name="Shape 41"/>
          <p:cNvSpPr/>
          <p:nvPr/>
        </p:nvSpPr>
        <p:spPr>
          <a:xfrm>
            <a:off x="6537960" y="4608576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8" name="Image 4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4727448"/>
            <a:ext cx="219456" cy="219456"/>
          </a:xfrm>
          <a:prstGeom prst="rect">
            <a:avLst/>
          </a:prstGeom>
        </p:spPr>
      </p:pic>
      <p:sp>
        <p:nvSpPr>
          <p:cNvPr id="49" name="Text 42"/>
          <p:cNvSpPr/>
          <p:nvPr/>
        </p:nvSpPr>
        <p:spPr>
          <a:xfrm>
            <a:off x="7132320" y="4562856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Torres</a:t>
            </a:r>
            <a:endParaRPr lang="en-US" sz="1150" dirty="0"/>
          </a:p>
        </p:txBody>
      </p:sp>
      <p:sp>
        <p:nvSpPr>
          <p:cNvPr id="50" name="Text 43"/>
          <p:cNvSpPr/>
          <p:nvPr/>
        </p:nvSpPr>
        <p:spPr>
          <a:xfrm>
            <a:off x="7132320" y="4837176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09:09:55</a:t>
            </a:r>
            <a:endParaRPr lang="en-US" sz="950" dirty="0"/>
          </a:p>
        </p:txBody>
      </p:sp>
      <p:sp>
        <p:nvSpPr>
          <p:cNvPr id="51" name="Shape 44"/>
          <p:cNvSpPr/>
          <p:nvPr/>
        </p:nvSpPr>
        <p:spPr>
          <a:xfrm>
            <a:off x="10378440" y="4700016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2" name="Text 45"/>
          <p:cNvSpPr/>
          <p:nvPr/>
        </p:nvSpPr>
        <p:spPr>
          <a:xfrm>
            <a:off x="10378440" y="469087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53" name="Shape 46"/>
          <p:cNvSpPr/>
          <p:nvPr/>
        </p:nvSpPr>
        <p:spPr>
          <a:xfrm>
            <a:off x="6400800" y="5330952"/>
            <a:ext cx="493776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4" name="Shape 47"/>
          <p:cNvSpPr/>
          <p:nvPr/>
        </p:nvSpPr>
        <p:spPr>
          <a:xfrm>
            <a:off x="6537960" y="5449824"/>
            <a:ext cx="457200" cy="457200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5" name="Image 5" descr="/home/claude/sena-ppt/icons/clipboard_dark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56832" y="5568696"/>
            <a:ext cx="219456" cy="219456"/>
          </a:xfrm>
          <a:prstGeom prst="rect">
            <a:avLst/>
          </a:prstGeom>
        </p:spPr>
      </p:pic>
      <p:sp>
        <p:nvSpPr>
          <p:cNvPr id="56" name="Text 48"/>
          <p:cNvSpPr/>
          <p:nvPr/>
        </p:nvSpPr>
        <p:spPr>
          <a:xfrm>
            <a:off x="7132320" y="5404104"/>
            <a:ext cx="2377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Mateo Silva</a:t>
            </a:r>
            <a:endParaRPr lang="en-US" sz="1150" dirty="0"/>
          </a:p>
        </p:txBody>
      </p:sp>
      <p:sp>
        <p:nvSpPr>
          <p:cNvPr id="57" name="Text 49"/>
          <p:cNvSpPr/>
          <p:nvPr/>
        </p:nvSpPr>
        <p:spPr>
          <a:xfrm>
            <a:off x="7132320" y="5678424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Registrado 09:15:02</a:t>
            </a:r>
            <a:endParaRPr lang="en-US" sz="950" dirty="0"/>
          </a:p>
        </p:txBody>
      </p:sp>
      <p:sp>
        <p:nvSpPr>
          <p:cNvPr id="58" name="Shape 50"/>
          <p:cNvSpPr/>
          <p:nvPr/>
        </p:nvSpPr>
        <p:spPr>
          <a:xfrm>
            <a:off x="10378440" y="5541264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9" name="Text 51"/>
          <p:cNvSpPr/>
          <p:nvPr/>
        </p:nvSpPr>
        <p:spPr>
          <a:xfrm>
            <a:off x="10378440" y="5532120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050" dirty="0"/>
          </a:p>
        </p:txBody>
      </p:sp>
      <p:sp>
        <p:nvSpPr>
          <p:cNvPr id="60" name="Text 5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61" name="Text 5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Gestión de retardos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activa — Ficha 3413974 · Competencia: Análisis de requerimientos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4183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clock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4942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26464" y="2221992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 min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41832" y="254203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Tolerancia configurada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429000" y="19659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3593592" y="2130552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/home/claude/sena-ppt/icons/warning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2464" y="224942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42232" y="2194560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593592" y="254203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Retardos en la sesión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080760" y="1965960"/>
            <a:ext cx="246888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624535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/home/claude/sena-ppt/icons/history_r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64224" y="224942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759282" y="2212848"/>
            <a:ext cx="21396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1h 15m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245352" y="2542032"/>
            <a:ext cx="213969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de formación perdidas (acum.)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8732520" y="1965960"/>
            <a:ext cx="2194560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8897112" y="213055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sena-ppt/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15984" y="224942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450791" y="216712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34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8897112" y="2542032"/>
            <a:ext cx="18653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77240" y="3063240"/>
            <a:ext cx="10149840" cy="365760"/>
          </a:xfrm>
          <a:prstGeom prst="rect">
            <a:avLst/>
          </a:prstGeom>
          <a:solidFill>
            <a:srgbClr val="0F43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2" name="Text 26"/>
          <p:cNvSpPr/>
          <p:nvPr/>
        </p:nvSpPr>
        <p:spPr>
          <a:xfrm>
            <a:off x="868680" y="30632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</a:t>
            </a:r>
            <a:endParaRPr lang="en-US" sz="950" dirty="0"/>
          </a:p>
        </p:txBody>
      </p:sp>
      <p:sp>
        <p:nvSpPr>
          <p:cNvPr id="33" name="Text 27"/>
          <p:cNvSpPr/>
          <p:nvPr/>
        </p:nvSpPr>
        <p:spPr>
          <a:xfrm>
            <a:off x="3246120" y="3063240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 de registro</a:t>
            </a:r>
            <a:endParaRPr lang="en-US" sz="950" dirty="0"/>
          </a:p>
        </p:txBody>
      </p:sp>
      <p:sp>
        <p:nvSpPr>
          <p:cNvPr id="34" name="Text 28"/>
          <p:cNvSpPr/>
          <p:nvPr/>
        </p:nvSpPr>
        <p:spPr>
          <a:xfrm>
            <a:off x="4983480" y="3063240"/>
            <a:ext cx="1143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Retraso</a:t>
            </a:r>
            <a:endParaRPr lang="en-US" sz="950" dirty="0"/>
          </a:p>
        </p:txBody>
      </p:sp>
      <p:sp>
        <p:nvSpPr>
          <p:cNvPr id="35" name="Text 29"/>
          <p:cNvSpPr/>
          <p:nvPr/>
        </p:nvSpPr>
        <p:spPr>
          <a:xfrm>
            <a:off x="6263640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H. perdidas</a:t>
            </a:r>
            <a:endParaRPr lang="en-US" sz="950" dirty="0"/>
          </a:p>
        </p:txBody>
      </p:sp>
      <p:sp>
        <p:nvSpPr>
          <p:cNvPr id="36" name="Text 30"/>
          <p:cNvSpPr/>
          <p:nvPr/>
        </p:nvSpPr>
        <p:spPr>
          <a:xfrm>
            <a:off x="7635240" y="3063240"/>
            <a:ext cx="1234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950" dirty="0"/>
          </a:p>
        </p:txBody>
      </p:sp>
      <p:sp>
        <p:nvSpPr>
          <p:cNvPr id="37" name="Text 31"/>
          <p:cNvSpPr/>
          <p:nvPr/>
        </p:nvSpPr>
        <p:spPr>
          <a:xfrm>
            <a:off x="9006840" y="3063240"/>
            <a:ext cx="1874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Acción instructor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777240" y="3429000"/>
            <a:ext cx="10149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9" name="Text 33"/>
          <p:cNvSpPr/>
          <p:nvPr/>
        </p:nvSpPr>
        <p:spPr>
          <a:xfrm>
            <a:off x="868680" y="34290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Ruiz</a:t>
            </a:r>
            <a:endParaRPr lang="en-US" sz="1000" dirty="0"/>
          </a:p>
        </p:txBody>
      </p:sp>
      <p:sp>
        <p:nvSpPr>
          <p:cNvPr id="40" name="Text 34"/>
          <p:cNvSpPr/>
          <p:nvPr/>
        </p:nvSpPr>
        <p:spPr>
          <a:xfrm>
            <a:off x="3246120" y="34290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09:24:10</a:t>
            </a:r>
            <a:endParaRPr lang="en-US" sz="1000" dirty="0"/>
          </a:p>
        </p:txBody>
      </p:sp>
      <p:sp>
        <p:nvSpPr>
          <p:cNvPr id="41" name="Text 35"/>
          <p:cNvSpPr/>
          <p:nvPr/>
        </p:nvSpPr>
        <p:spPr>
          <a:xfrm>
            <a:off x="4983480" y="34290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min</a:t>
            </a:r>
            <a:endParaRPr lang="en-US" sz="1000" dirty="0"/>
          </a:p>
        </p:txBody>
      </p:sp>
      <p:sp>
        <p:nvSpPr>
          <p:cNvPr id="42" name="Text 36"/>
          <p:cNvSpPr/>
          <p:nvPr/>
        </p:nvSpPr>
        <p:spPr>
          <a:xfrm>
            <a:off x="6263640" y="34290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0:20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7635240" y="35112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8"/>
          <p:cNvSpPr/>
          <p:nvPr/>
        </p:nvSpPr>
        <p:spPr>
          <a:xfrm>
            <a:off x="7635240" y="35021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9006840" y="35112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6" name="Text 40"/>
          <p:cNvSpPr/>
          <p:nvPr/>
        </p:nvSpPr>
        <p:spPr>
          <a:xfrm>
            <a:off x="9006840" y="35021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777240" y="3886200"/>
            <a:ext cx="10149840" cy="457200"/>
          </a:xfrm>
          <a:prstGeom prst="rect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8" name="Text 42"/>
          <p:cNvSpPr/>
          <p:nvPr/>
        </p:nvSpPr>
        <p:spPr>
          <a:xfrm>
            <a:off x="868680" y="38862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Sergio Cárdenas</a:t>
            </a:r>
            <a:endParaRPr lang="en-US" sz="1000" dirty="0"/>
          </a:p>
        </p:txBody>
      </p:sp>
      <p:sp>
        <p:nvSpPr>
          <p:cNvPr id="49" name="Text 43"/>
          <p:cNvSpPr/>
          <p:nvPr/>
        </p:nvSpPr>
        <p:spPr>
          <a:xfrm>
            <a:off x="3246120" y="38862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09:31:52</a:t>
            </a:r>
            <a:endParaRPr lang="en-US" sz="1000" dirty="0"/>
          </a:p>
        </p:txBody>
      </p:sp>
      <p:sp>
        <p:nvSpPr>
          <p:cNvPr id="50" name="Text 44"/>
          <p:cNvSpPr/>
          <p:nvPr/>
        </p:nvSpPr>
        <p:spPr>
          <a:xfrm>
            <a:off x="4983480" y="38862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min</a:t>
            </a:r>
            <a:endParaRPr lang="en-US" sz="1000" dirty="0"/>
          </a:p>
        </p:txBody>
      </p:sp>
      <p:sp>
        <p:nvSpPr>
          <p:cNvPr id="51" name="Text 45"/>
          <p:cNvSpPr/>
          <p:nvPr/>
        </p:nvSpPr>
        <p:spPr>
          <a:xfrm>
            <a:off x="6263640" y="38862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0:30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7635240" y="39684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3" name="Text 47"/>
          <p:cNvSpPr/>
          <p:nvPr/>
        </p:nvSpPr>
        <p:spPr>
          <a:xfrm>
            <a:off x="7635240" y="39593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54" name="Shape 48"/>
          <p:cNvSpPr/>
          <p:nvPr/>
        </p:nvSpPr>
        <p:spPr>
          <a:xfrm>
            <a:off x="9006840" y="39684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5" name="Text 49"/>
          <p:cNvSpPr/>
          <p:nvPr/>
        </p:nvSpPr>
        <p:spPr>
          <a:xfrm>
            <a:off x="9006840" y="39593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Justificado</a:t>
            </a:r>
            <a:endParaRPr lang="en-US" sz="1050" dirty="0"/>
          </a:p>
        </p:txBody>
      </p:sp>
      <p:sp>
        <p:nvSpPr>
          <p:cNvPr id="56" name="Shape 50"/>
          <p:cNvSpPr/>
          <p:nvPr/>
        </p:nvSpPr>
        <p:spPr>
          <a:xfrm>
            <a:off x="777240" y="4343400"/>
            <a:ext cx="10149840" cy="4572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51"/>
          <p:cNvSpPr/>
          <p:nvPr/>
        </p:nvSpPr>
        <p:spPr>
          <a:xfrm>
            <a:off x="868680" y="4343400"/>
            <a:ext cx="2240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Valentina Cruz</a:t>
            </a:r>
            <a:endParaRPr lang="en-US" sz="1000" dirty="0"/>
          </a:p>
        </p:txBody>
      </p:sp>
      <p:sp>
        <p:nvSpPr>
          <p:cNvPr id="58" name="Text 52"/>
          <p:cNvSpPr/>
          <p:nvPr/>
        </p:nvSpPr>
        <p:spPr>
          <a:xfrm>
            <a:off x="3246120" y="4343400"/>
            <a:ext cx="1600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09:19:07</a:t>
            </a:r>
            <a:endParaRPr lang="en-US" sz="1000" dirty="0"/>
          </a:p>
        </p:txBody>
      </p:sp>
      <p:sp>
        <p:nvSpPr>
          <p:cNvPr id="59" name="Text 53"/>
          <p:cNvSpPr/>
          <p:nvPr/>
        </p:nvSpPr>
        <p:spPr>
          <a:xfrm>
            <a:off x="4983480" y="4343400"/>
            <a:ext cx="1143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min</a:t>
            </a:r>
            <a:endParaRPr lang="en-US" sz="1000" dirty="0"/>
          </a:p>
        </p:txBody>
      </p:sp>
      <p:sp>
        <p:nvSpPr>
          <p:cNvPr id="60" name="Text 54"/>
          <p:cNvSpPr/>
          <p:nvPr/>
        </p:nvSpPr>
        <p:spPr>
          <a:xfrm>
            <a:off x="6263640" y="434340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0:15</a:t>
            </a:r>
            <a:endParaRPr lang="en-US" sz="1000" dirty="0"/>
          </a:p>
        </p:txBody>
      </p:sp>
      <p:sp>
        <p:nvSpPr>
          <p:cNvPr id="61" name="Shape 55"/>
          <p:cNvSpPr/>
          <p:nvPr/>
        </p:nvSpPr>
        <p:spPr>
          <a:xfrm>
            <a:off x="7635240" y="4425696"/>
            <a:ext cx="10515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2" name="Text 56"/>
          <p:cNvSpPr/>
          <p:nvPr/>
        </p:nvSpPr>
        <p:spPr>
          <a:xfrm>
            <a:off x="7635240" y="4416552"/>
            <a:ext cx="10515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</a:t>
            </a:r>
            <a:endParaRPr lang="en-US" sz="1050" dirty="0"/>
          </a:p>
        </p:txBody>
      </p:sp>
      <p:sp>
        <p:nvSpPr>
          <p:cNvPr id="63" name="Shape 57"/>
          <p:cNvSpPr/>
          <p:nvPr/>
        </p:nvSpPr>
        <p:spPr>
          <a:xfrm>
            <a:off x="9006840" y="4425696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4" name="Text 58"/>
          <p:cNvSpPr/>
          <p:nvPr/>
        </p:nvSpPr>
        <p:spPr>
          <a:xfrm>
            <a:off x="9006840" y="44165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Pendiente</a:t>
            </a:r>
            <a:endParaRPr lang="en-US" sz="1050" dirty="0"/>
          </a:p>
        </p:txBody>
      </p:sp>
      <p:sp>
        <p:nvSpPr>
          <p:cNvPr id="65" name="Shape 59"/>
          <p:cNvSpPr/>
          <p:nvPr/>
        </p:nvSpPr>
        <p:spPr>
          <a:xfrm>
            <a:off x="777240" y="4800600"/>
            <a:ext cx="101498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66" name="Text 6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67" name="Text 6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Historial de asistencia del aprendiz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Historial — Laura Ramírez · Documento 10XXXXXXXX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834640" cy="4572000"/>
          </a:xfrm>
          <a:prstGeom prst="roundRect">
            <a:avLst>
              <a:gd name="adj" fmla="val 2258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1463040" y="2240280"/>
            <a:ext cx="914400" cy="91440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user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0784" y="2478024"/>
            <a:ext cx="438912" cy="43891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68680" y="3291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Laura Ramírez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868680" y="3630168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· ADSO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68680" y="4114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96%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2148840" y="4187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global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868680" y="4736592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9770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2148840" y="48097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Retardos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868680" y="5358384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DC262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2148840" y="543153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Ausencias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3886200" y="19659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registros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4160520" y="263347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4" name="Shape 21"/>
          <p:cNvSpPr/>
          <p:nvPr/>
        </p:nvSpPr>
        <p:spPr>
          <a:xfrm>
            <a:off x="3977640" y="2377440"/>
            <a:ext cx="384048" cy="38404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5" name="Image 1" descr="/home/claude/sena-ppt/icons/idc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492" y="2477292"/>
            <a:ext cx="184343" cy="184343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526280" y="235915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jul 2026</a:t>
            </a:r>
            <a:endParaRPr lang="en-US" sz="1050" dirty="0"/>
          </a:p>
        </p:txBody>
      </p:sp>
      <p:sp>
        <p:nvSpPr>
          <p:cNvPr id="27" name="Text 23"/>
          <p:cNvSpPr/>
          <p:nvPr/>
        </p:nvSpPr>
        <p:spPr>
          <a:xfrm>
            <a:off x="4526280" y="259689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09:12:03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6035040" y="242316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Text 25"/>
          <p:cNvSpPr/>
          <p:nvPr/>
        </p:nvSpPr>
        <p:spPr>
          <a:xfrm>
            <a:off x="6035040" y="241401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160520" y="341071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1" name="Shape 27"/>
          <p:cNvSpPr/>
          <p:nvPr/>
        </p:nvSpPr>
        <p:spPr>
          <a:xfrm>
            <a:off x="3977640" y="3154680"/>
            <a:ext cx="384048" cy="384048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2" name="Image 2" descr="/home/claude/sena-ppt/icons/clock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77492" y="3254532"/>
            <a:ext cx="184343" cy="184343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4526280" y="313639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jul 2026</a:t>
            </a:r>
            <a:endParaRPr lang="en-US" sz="1050" dirty="0"/>
          </a:p>
        </p:txBody>
      </p:sp>
      <p:sp>
        <p:nvSpPr>
          <p:cNvPr id="34" name="Text 29"/>
          <p:cNvSpPr/>
          <p:nvPr/>
        </p:nvSpPr>
        <p:spPr>
          <a:xfrm>
            <a:off x="4526280" y="337413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09:24:40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6035040" y="320040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6" name="Text 31"/>
          <p:cNvSpPr/>
          <p:nvPr/>
        </p:nvSpPr>
        <p:spPr>
          <a:xfrm>
            <a:off x="6035040" y="319125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 (14 min)</a:t>
            </a:r>
            <a:endParaRPr lang="en-US" sz="1050" dirty="0"/>
          </a:p>
        </p:txBody>
      </p:sp>
      <p:sp>
        <p:nvSpPr>
          <p:cNvPr id="37" name="Shape 32"/>
          <p:cNvSpPr/>
          <p:nvPr/>
        </p:nvSpPr>
        <p:spPr>
          <a:xfrm>
            <a:off x="4160520" y="418795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8" name="Shape 33"/>
          <p:cNvSpPr/>
          <p:nvPr/>
        </p:nvSpPr>
        <p:spPr>
          <a:xfrm>
            <a:off x="3977640" y="3931920"/>
            <a:ext cx="384048" cy="38404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9" name="Image 3" descr="/home/claude/sena-ppt/icons/idc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492" y="4031772"/>
            <a:ext cx="184343" cy="184343"/>
          </a:xfrm>
          <a:prstGeom prst="rect">
            <a:avLst/>
          </a:prstGeom>
        </p:spPr>
      </p:pic>
      <p:sp>
        <p:nvSpPr>
          <p:cNvPr id="40" name="Text 34"/>
          <p:cNvSpPr/>
          <p:nvPr/>
        </p:nvSpPr>
        <p:spPr>
          <a:xfrm>
            <a:off x="4526280" y="391363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jul 2026</a:t>
            </a:r>
            <a:endParaRPr lang="en-US" sz="1050" dirty="0"/>
          </a:p>
        </p:txBody>
      </p:sp>
      <p:sp>
        <p:nvSpPr>
          <p:cNvPr id="41" name="Text 35"/>
          <p:cNvSpPr/>
          <p:nvPr/>
        </p:nvSpPr>
        <p:spPr>
          <a:xfrm>
            <a:off x="4526280" y="415137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09:08:15</a:t>
            </a:r>
            <a:endParaRPr lang="en-US" sz="900" dirty="0"/>
          </a:p>
        </p:txBody>
      </p:sp>
      <p:sp>
        <p:nvSpPr>
          <p:cNvPr id="42" name="Shape 36"/>
          <p:cNvSpPr/>
          <p:nvPr/>
        </p:nvSpPr>
        <p:spPr>
          <a:xfrm>
            <a:off x="6035040" y="397764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3" name="Text 37"/>
          <p:cNvSpPr/>
          <p:nvPr/>
        </p:nvSpPr>
        <p:spPr>
          <a:xfrm>
            <a:off x="6035040" y="396849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44" name="Shape 38"/>
          <p:cNvSpPr/>
          <p:nvPr/>
        </p:nvSpPr>
        <p:spPr>
          <a:xfrm>
            <a:off x="4160520" y="496519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45" name="Shape 39"/>
          <p:cNvSpPr/>
          <p:nvPr/>
        </p:nvSpPr>
        <p:spPr>
          <a:xfrm>
            <a:off x="3977640" y="4709160"/>
            <a:ext cx="384048" cy="384048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46" name="Image 4" descr="/home/claude/sena-ppt/icons/clipboard_dark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77492" y="4809012"/>
            <a:ext cx="184343" cy="184343"/>
          </a:xfrm>
          <a:prstGeom prst="rect">
            <a:avLst/>
          </a:prstGeom>
        </p:spPr>
      </p:pic>
      <p:sp>
        <p:nvSpPr>
          <p:cNvPr id="47" name="Text 40"/>
          <p:cNvSpPr/>
          <p:nvPr/>
        </p:nvSpPr>
        <p:spPr>
          <a:xfrm>
            <a:off x="4526280" y="46908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jul 2026</a:t>
            </a:r>
            <a:endParaRPr lang="en-US" sz="1050" dirty="0"/>
          </a:p>
        </p:txBody>
      </p:sp>
      <p:sp>
        <p:nvSpPr>
          <p:cNvPr id="48" name="Text 41"/>
          <p:cNvSpPr/>
          <p:nvPr/>
        </p:nvSpPr>
        <p:spPr>
          <a:xfrm>
            <a:off x="4526280" y="492861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9" name="Shape 42"/>
          <p:cNvSpPr/>
          <p:nvPr/>
        </p:nvSpPr>
        <p:spPr>
          <a:xfrm>
            <a:off x="6035040" y="475488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0" name="Text 43"/>
          <p:cNvSpPr/>
          <p:nvPr/>
        </p:nvSpPr>
        <p:spPr>
          <a:xfrm>
            <a:off x="6035040" y="474573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— falla de lector</a:t>
            </a:r>
            <a:endParaRPr lang="en-US" sz="1050" dirty="0"/>
          </a:p>
        </p:txBody>
      </p:sp>
      <p:sp>
        <p:nvSpPr>
          <p:cNvPr id="51" name="Shape 44"/>
          <p:cNvSpPr/>
          <p:nvPr/>
        </p:nvSpPr>
        <p:spPr>
          <a:xfrm>
            <a:off x="4160520" y="5742432"/>
            <a:ext cx="0" cy="566928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52" name="Shape 45"/>
          <p:cNvSpPr/>
          <p:nvPr/>
        </p:nvSpPr>
        <p:spPr>
          <a:xfrm>
            <a:off x="3977640" y="5486400"/>
            <a:ext cx="384048" cy="38404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3" name="Image 5" descr="/home/claude/sena-ppt/icons/idcard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77492" y="5586252"/>
            <a:ext cx="184343" cy="184343"/>
          </a:xfrm>
          <a:prstGeom prst="rect">
            <a:avLst/>
          </a:prstGeom>
        </p:spPr>
      </p:pic>
      <p:sp>
        <p:nvSpPr>
          <p:cNvPr id="54" name="Text 46"/>
          <p:cNvSpPr/>
          <p:nvPr/>
        </p:nvSpPr>
        <p:spPr>
          <a:xfrm>
            <a:off x="4526280" y="546811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jul 2026</a:t>
            </a:r>
            <a:endParaRPr lang="en-US" sz="1050" dirty="0"/>
          </a:p>
        </p:txBody>
      </p:sp>
      <p:sp>
        <p:nvSpPr>
          <p:cNvPr id="55" name="Text 47"/>
          <p:cNvSpPr/>
          <p:nvPr/>
        </p:nvSpPr>
        <p:spPr>
          <a:xfrm>
            <a:off x="4526280" y="5705856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09:10:02</a:t>
            </a:r>
            <a:endParaRPr lang="en-US" sz="900" dirty="0"/>
          </a:p>
        </p:txBody>
      </p:sp>
      <p:sp>
        <p:nvSpPr>
          <p:cNvPr id="56" name="Shape 48"/>
          <p:cNvSpPr/>
          <p:nvPr/>
        </p:nvSpPr>
        <p:spPr>
          <a:xfrm>
            <a:off x="6035040" y="5532120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57" name="Text 49"/>
          <p:cNvSpPr/>
          <p:nvPr/>
        </p:nvSpPr>
        <p:spPr>
          <a:xfrm>
            <a:off x="6035040" y="5522976"/>
            <a:ext cx="1737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</a:t>
            </a:r>
            <a:endParaRPr lang="en-US" sz="1050" dirty="0"/>
          </a:p>
        </p:txBody>
      </p:sp>
      <p:sp>
        <p:nvSpPr>
          <p:cNvPr id="58" name="Text 5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59" name="Text 5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Reportes para instructores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Reportes — Ficha 3413974 · Julio 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3520440" cy="452628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Text 10"/>
          <p:cNvSpPr/>
          <p:nvPr/>
        </p:nvSpPr>
        <p:spPr>
          <a:xfrm>
            <a:off x="960120" y="2103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mensual</a:t>
            </a:r>
            <a:endParaRPr lang="en-US" sz="1050" dirty="0"/>
          </a:p>
        </p:txBody>
      </p:sp>
      <p:graphicFrame>
        <p:nvGraphicFramePr>
          <p:cNvPr id="13" name="Chart 0"/>
          <p:cNvGraphicFramePr/>
          <p:nvPr/>
        </p:nvGraphicFramePr>
        <p:xfrm>
          <a:off x="914400" y="2423160"/>
          <a:ext cx="324612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4" name="Text 11"/>
          <p:cNvSpPr/>
          <p:nvPr/>
        </p:nvSpPr>
        <p:spPr>
          <a:xfrm>
            <a:off x="960120" y="576072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Presente · 9% Retardo · 3% Ausente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480560" y="1965960"/>
            <a:ext cx="630936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6" name="Text 13"/>
          <p:cNvSpPr/>
          <p:nvPr/>
        </p:nvSpPr>
        <p:spPr>
          <a:xfrm>
            <a:off x="4663440" y="210312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de asistencia — últimas 6 semanas</a:t>
            </a:r>
            <a:endParaRPr lang="en-US" sz="105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4572000" y="2423160"/>
          <a:ext cx="612648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4480560" y="4846320"/>
            <a:ext cx="6309360" cy="16459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9" name="Text 15"/>
          <p:cNvSpPr/>
          <p:nvPr/>
        </p:nvSpPr>
        <p:spPr>
          <a:xfrm>
            <a:off x="4663440" y="4983480"/>
            <a:ext cx="5943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Exportar reporte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4663440" y="53949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1" name="Shape 17"/>
          <p:cNvSpPr/>
          <p:nvPr/>
        </p:nvSpPr>
        <p:spPr>
          <a:xfrm>
            <a:off x="4800600" y="5532120"/>
            <a:ext cx="411480" cy="4114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2" name="Image 0" descr="/home/claude/sena-ppt/icons/fil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7585" y="5639105"/>
            <a:ext cx="197510" cy="19751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800600" y="5971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por ficha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6748272" y="53949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5" name="Shape 20"/>
          <p:cNvSpPr/>
          <p:nvPr/>
        </p:nvSpPr>
        <p:spPr>
          <a:xfrm>
            <a:off x="6885432" y="5532120"/>
            <a:ext cx="411480" cy="4114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6" name="Image 1" descr="/home/claude/sena-ppt/icons/clipboard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2417" y="5639105"/>
            <a:ext cx="197510" cy="19751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6885432" y="5971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por aprendiz</a:t>
            </a:r>
            <a:endParaRPr lang="en-US" sz="900" dirty="0"/>
          </a:p>
        </p:txBody>
      </p:sp>
      <p:sp>
        <p:nvSpPr>
          <p:cNvPr id="28" name="Shape 22"/>
          <p:cNvSpPr/>
          <p:nvPr/>
        </p:nvSpPr>
        <p:spPr>
          <a:xfrm>
            <a:off x="8833104" y="5394960"/>
            <a:ext cx="1920240" cy="960120"/>
          </a:xfrm>
          <a:prstGeom prst="roundRect">
            <a:avLst>
              <a:gd name="adj" fmla="val 4762"/>
            </a:avLst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29" name="Shape 23"/>
          <p:cNvSpPr/>
          <p:nvPr/>
        </p:nvSpPr>
        <p:spPr>
          <a:xfrm>
            <a:off x="8970264" y="5532120"/>
            <a:ext cx="411480" cy="41148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0" name="Image 2" descr="/home/claude/sena-ppt/icons/char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077249" y="5639105"/>
            <a:ext cx="197510" cy="19751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8970264" y="5971032"/>
            <a:ext cx="1691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por fecha</a:t>
            </a:r>
            <a:endParaRPr lang="en-US" sz="900" dirty="0"/>
          </a:p>
        </p:txBody>
      </p:sp>
      <p:sp>
        <p:nvSpPr>
          <p:cNvPr id="32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33" name="Text 2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Alertas y notificaciones automáticas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notificaciones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201168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32688" y="2103120"/>
            <a:ext cx="475488" cy="475488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warning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6315" y="2226747"/>
            <a:ext cx="228234" cy="228234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572768" y="206654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aprendices registrados en Retardo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572768" y="235000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· hace 4 min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777240" y="2761488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932688" y="2852928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/home/claude/sena-ppt/icons/usertimes_r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315" y="2976555"/>
            <a:ext cx="228234" cy="228234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572768" y="2816352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aprendices marcados como Ausente</a:t>
            </a:r>
            <a:endParaRPr lang="en-US" sz="1150" dirty="0"/>
          </a:p>
        </p:txBody>
      </p:sp>
      <p:sp>
        <p:nvSpPr>
          <p:cNvPr id="20" name="Text 16"/>
          <p:cNvSpPr/>
          <p:nvPr/>
        </p:nvSpPr>
        <p:spPr>
          <a:xfrm>
            <a:off x="1572768" y="3099816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finalizada automáticamente · hace 10 min</a:t>
            </a:r>
            <a:endParaRPr lang="en-US" sz="950" dirty="0"/>
          </a:p>
        </p:txBody>
      </p:sp>
      <p:sp>
        <p:nvSpPr>
          <p:cNvPr id="21" name="Shape 17"/>
          <p:cNvSpPr/>
          <p:nvPr/>
        </p:nvSpPr>
        <p:spPr>
          <a:xfrm>
            <a:off x="777240" y="3511296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932688" y="3602736"/>
            <a:ext cx="475488" cy="475488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/home/claude/sena-ppt/icons/clipboard_dark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6315" y="3726363"/>
            <a:ext cx="228234" cy="22823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572768" y="3566160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manual realizado por el instructor</a:t>
            </a:r>
            <a:endParaRPr lang="en-US" sz="1150" dirty="0"/>
          </a:p>
        </p:txBody>
      </p:sp>
      <p:sp>
        <p:nvSpPr>
          <p:cNvPr id="25" name="Text 20"/>
          <p:cNvSpPr/>
          <p:nvPr/>
        </p:nvSpPr>
        <p:spPr>
          <a:xfrm>
            <a:off x="1572768" y="3849624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Motivo: falla de lector NFC · hace 12 min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777240" y="4261104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932688" y="4352544"/>
            <a:ext cx="475488" cy="475488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sena-ppt/icons/check_gree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6315" y="4476171"/>
            <a:ext cx="228234" cy="22823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72768" y="4315968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iniciada correctamente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1572768" y="4599432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3413974 · Competencia: Bases de datos · hace 32 min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777240" y="5010912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Shape 26"/>
          <p:cNvSpPr/>
          <p:nvPr/>
        </p:nvSpPr>
        <p:spPr>
          <a:xfrm>
            <a:off x="932688" y="5102352"/>
            <a:ext cx="475488" cy="475488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3" name="Image 4" descr="/home/claude/sena-ppt/icons/fingerprint_r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6315" y="5225979"/>
            <a:ext cx="228234" cy="228234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1572768" y="5065776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Intento de NFC ya asociado, rechazado</a:t>
            </a:r>
            <a:endParaRPr lang="en-US" sz="1150" dirty="0"/>
          </a:p>
        </p:txBody>
      </p:sp>
      <p:sp>
        <p:nvSpPr>
          <p:cNvPr id="35" name="Text 28"/>
          <p:cNvSpPr/>
          <p:nvPr/>
        </p:nvSpPr>
        <p:spPr>
          <a:xfrm>
            <a:off x="1572768" y="5349240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Identificador vinculado a otro aprendiz · hace 45 min</a:t>
            </a:r>
            <a:endParaRPr lang="en-US" sz="950" dirty="0"/>
          </a:p>
        </p:txBody>
      </p:sp>
      <p:sp>
        <p:nvSpPr>
          <p:cNvPr id="36" name="Shape 29"/>
          <p:cNvSpPr/>
          <p:nvPr/>
        </p:nvSpPr>
        <p:spPr>
          <a:xfrm>
            <a:off x="777240" y="5760720"/>
            <a:ext cx="1060704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7" name="Shape 30"/>
          <p:cNvSpPr/>
          <p:nvPr/>
        </p:nvSpPr>
        <p:spPr>
          <a:xfrm>
            <a:off x="932688" y="5852160"/>
            <a:ext cx="475488" cy="475488"/>
          </a:xfrm>
          <a:prstGeom prst="ellipse">
            <a:avLst/>
          </a:prstGeom>
          <a:solidFill>
            <a:srgbClr val="F5F7FA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38" name="Image 5" descr="/home/claude/sena-ppt/icons/history_darkgree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6315" y="5975787"/>
            <a:ext cx="228234" cy="22823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572768" y="5815584"/>
            <a:ext cx="7589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cerrada y consolidada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572768" y="6099048"/>
            <a:ext cx="7589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disponible para descarga · ayer, 15:32</a:t>
            </a:r>
            <a:endParaRPr lang="en-US" sz="950" dirty="0"/>
          </a:p>
        </p:txBody>
      </p:sp>
      <p:sp>
        <p:nvSpPr>
          <p:cNvPr id="41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2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Consulta de estadísticas institucionales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5029200"/>
          </a:xfrm>
          <a:prstGeom prst="roundRect">
            <a:avLst>
              <a:gd name="adj" fmla="val 163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38100" dir="5400000" algn="bl" rotWithShape="0">
              <a:srgbClr val="1E293B">
                <a:alpha val="18000"/>
              </a:srgbClr>
            </a:outerShdw>
          </a:effectLst>
        </p:spPr>
        <p:txBody>
          <a:bodyPr/>
          <a:lstStyle/>
          <a:p>
            <a:endParaRPr lang="es-CO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11064240" cy="365760"/>
          </a:xfrm>
          <a:prstGeom prst="roundRect">
            <a:avLst>
              <a:gd name="adj" fmla="val 22500"/>
            </a:avLst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64240" cy="182880"/>
          </a:xfrm>
          <a:prstGeom prst="rect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7" name="Shape 5"/>
          <p:cNvSpPr/>
          <p:nvPr/>
        </p:nvSpPr>
        <p:spPr>
          <a:xfrm>
            <a:off x="685800" y="1581912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8" name="Shape 6"/>
          <p:cNvSpPr/>
          <p:nvPr/>
        </p:nvSpPr>
        <p:spPr>
          <a:xfrm>
            <a:off x="886968" y="1581912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Shape 7"/>
          <p:cNvSpPr/>
          <p:nvPr/>
        </p:nvSpPr>
        <p:spPr>
          <a:xfrm>
            <a:off x="1088136" y="1581912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0" name="Text 8"/>
          <p:cNvSpPr/>
          <p:nvPr/>
        </p:nvSpPr>
        <p:spPr>
          <a:xfrm>
            <a:off x="1463040" y="1463040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institucional — Centro de la Industria, la Empresa y los Servicios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77240" y="19659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2" name="Shape 10"/>
          <p:cNvSpPr/>
          <p:nvPr/>
        </p:nvSpPr>
        <p:spPr>
          <a:xfrm>
            <a:off x="94183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3" name="Image 0" descr="/home/claude/sena-ppt/icons/users_dark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704" y="2249424"/>
            <a:ext cx="219456" cy="219456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1405128" y="2167128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1,240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41832" y="258775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Aprendices activos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520440" y="19659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17" name="Shape 14"/>
          <p:cNvSpPr/>
          <p:nvPr/>
        </p:nvSpPr>
        <p:spPr>
          <a:xfrm>
            <a:off x="3685032" y="2130552"/>
            <a:ext cx="457200" cy="457200"/>
          </a:xfrm>
          <a:prstGeom prst="ellipse">
            <a:avLst/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18" name="Image 1" descr="/home/claude/sena-ppt/icons/check_gre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03904" y="2249424"/>
            <a:ext cx="219456" cy="21945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174236" y="2185416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94.2%</a:t>
            </a:r>
            <a:endParaRPr lang="en-US" sz="2200" dirty="0"/>
          </a:p>
        </p:txBody>
      </p:sp>
      <p:sp>
        <p:nvSpPr>
          <p:cNvPr id="20" name="Text 16"/>
          <p:cNvSpPr/>
          <p:nvPr/>
        </p:nvSpPr>
        <p:spPr>
          <a:xfrm>
            <a:off x="3685032" y="258775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6263640" y="1965960"/>
            <a:ext cx="260604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2" name="Shape 18"/>
          <p:cNvSpPr/>
          <p:nvPr/>
        </p:nvSpPr>
        <p:spPr>
          <a:xfrm>
            <a:off x="6428232" y="2130552"/>
            <a:ext cx="457200" cy="457200"/>
          </a:xfrm>
          <a:prstGeom prst="ellipse">
            <a:avLst/>
          </a:prstGeom>
          <a:solidFill>
            <a:srgbClr val="FDECEC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3" name="Image 2" descr="/home/claude/sena-ppt/icons/clipboard_darkgre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104" y="2249424"/>
            <a:ext cx="219456" cy="219456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013448" y="2167128"/>
            <a:ext cx="227685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37</a:t>
            </a:r>
            <a:endParaRPr lang="en-US" sz="2200" dirty="0"/>
          </a:p>
        </p:txBody>
      </p:sp>
      <p:sp>
        <p:nvSpPr>
          <p:cNvPr id="25" name="Text 20"/>
          <p:cNvSpPr/>
          <p:nvPr/>
        </p:nvSpPr>
        <p:spPr>
          <a:xfrm>
            <a:off x="6428232" y="2587752"/>
            <a:ext cx="22768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en formación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9006840" y="1965960"/>
            <a:ext cx="1737360" cy="91440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27" name="Shape 22"/>
          <p:cNvSpPr/>
          <p:nvPr/>
        </p:nvSpPr>
        <p:spPr>
          <a:xfrm>
            <a:off x="9171432" y="2130552"/>
            <a:ext cx="457200" cy="457200"/>
          </a:xfrm>
          <a:prstGeom prst="ellipse">
            <a:avLst/>
          </a:prstGeom>
          <a:solidFill>
            <a:srgbClr val="FEF3E2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28" name="Image 3" descr="/home/claude/sena-ppt/icons/cloc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90304" y="224942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722498" y="2139696"/>
            <a:ext cx="14081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374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6.1%</a:t>
            </a:r>
            <a:endParaRPr lang="en-US" sz="2200" dirty="0"/>
          </a:p>
        </p:txBody>
      </p:sp>
      <p:sp>
        <p:nvSpPr>
          <p:cNvPr id="30" name="Text 24"/>
          <p:cNvSpPr/>
          <p:nvPr/>
        </p:nvSpPr>
        <p:spPr>
          <a:xfrm>
            <a:off x="9171432" y="2587752"/>
            <a:ext cx="140817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Retardos globales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77240" y="3063240"/>
            <a:ext cx="626364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2" name="Text 26"/>
          <p:cNvSpPr/>
          <p:nvPr/>
        </p:nvSpPr>
        <p:spPr>
          <a:xfrm>
            <a:off x="960120" y="3172968"/>
            <a:ext cx="5852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 promedio por programa</a:t>
            </a:r>
            <a:endParaRPr lang="en-US" sz="1050" dirty="0"/>
          </a:p>
        </p:txBody>
      </p:sp>
      <p:graphicFrame>
        <p:nvGraphicFramePr>
          <p:cNvPr id="33" name="Chart 0"/>
          <p:cNvGraphicFramePr/>
          <p:nvPr/>
        </p:nvGraphicFramePr>
        <p:xfrm>
          <a:off x="868680" y="3474720"/>
          <a:ext cx="6035040" cy="2240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4" name="Shape 27"/>
          <p:cNvSpPr/>
          <p:nvPr/>
        </p:nvSpPr>
        <p:spPr>
          <a:xfrm>
            <a:off x="7223760" y="3063240"/>
            <a:ext cx="3703320" cy="2743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s-CO"/>
          </a:p>
        </p:txBody>
      </p:sp>
      <p:sp>
        <p:nvSpPr>
          <p:cNvPr id="35" name="Text 28"/>
          <p:cNvSpPr/>
          <p:nvPr/>
        </p:nvSpPr>
        <p:spPr>
          <a:xfrm>
            <a:off x="7406640" y="3172968"/>
            <a:ext cx="3337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en tiempo real</a:t>
            </a:r>
            <a:endParaRPr lang="en-US" sz="1050" dirty="0"/>
          </a:p>
        </p:txBody>
      </p:sp>
      <p:sp>
        <p:nvSpPr>
          <p:cNvPr id="36" name="Text 29"/>
          <p:cNvSpPr/>
          <p:nvPr/>
        </p:nvSpPr>
        <p:spPr>
          <a:xfrm>
            <a:off x="7406640" y="361188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Sesiones activas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9692640" y="359359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8" name="Text 31"/>
          <p:cNvSpPr/>
          <p:nvPr/>
        </p:nvSpPr>
        <p:spPr>
          <a:xfrm>
            <a:off x="9692640" y="358444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50" dirty="0"/>
          </a:p>
        </p:txBody>
      </p:sp>
      <p:sp>
        <p:nvSpPr>
          <p:cNvPr id="39" name="Text 32"/>
          <p:cNvSpPr/>
          <p:nvPr/>
        </p:nvSpPr>
        <p:spPr>
          <a:xfrm>
            <a:off x="7406640" y="41148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Sincronización NFC</a:t>
            </a:r>
            <a:endParaRPr lang="en-US" sz="1000" dirty="0"/>
          </a:p>
        </p:txBody>
      </p:sp>
      <p:sp>
        <p:nvSpPr>
          <p:cNvPr id="40" name="Shape 33"/>
          <p:cNvSpPr/>
          <p:nvPr/>
        </p:nvSpPr>
        <p:spPr>
          <a:xfrm>
            <a:off x="9692640" y="409651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1" name="Text 34"/>
          <p:cNvSpPr/>
          <p:nvPr/>
        </p:nvSpPr>
        <p:spPr>
          <a:xfrm>
            <a:off x="9692640" y="408736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9A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</a:t>
            </a:r>
            <a:endParaRPr lang="en-US" sz="1050" dirty="0"/>
          </a:p>
        </p:txBody>
      </p:sp>
      <p:sp>
        <p:nvSpPr>
          <p:cNvPr id="42" name="Text 35"/>
          <p:cNvSpPr/>
          <p:nvPr/>
        </p:nvSpPr>
        <p:spPr>
          <a:xfrm>
            <a:off x="7406640" y="461772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Última auditoría</a:t>
            </a:r>
            <a:endParaRPr lang="en-US" sz="1000" dirty="0"/>
          </a:p>
        </p:txBody>
      </p:sp>
      <p:sp>
        <p:nvSpPr>
          <p:cNvPr id="43" name="Shape 36"/>
          <p:cNvSpPr/>
          <p:nvPr/>
        </p:nvSpPr>
        <p:spPr>
          <a:xfrm>
            <a:off x="9692640" y="4599432"/>
            <a:ext cx="1097280" cy="292608"/>
          </a:xfrm>
          <a:prstGeom prst="roundRect">
            <a:avLst>
              <a:gd name="adj" fmla="val 50000"/>
            </a:avLst>
          </a:prstGeom>
          <a:solidFill>
            <a:srgbClr val="E8F5E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4" name="Text 37"/>
          <p:cNvSpPr/>
          <p:nvPr/>
        </p:nvSpPr>
        <p:spPr>
          <a:xfrm>
            <a:off x="9692640" y="4590288"/>
            <a:ext cx="1097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E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2 min</a:t>
            </a:r>
            <a:endParaRPr lang="en-US" sz="1050" dirty="0"/>
          </a:p>
        </p:txBody>
      </p:sp>
      <p:sp>
        <p:nvSpPr>
          <p:cNvPr id="45" name="Text 3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ASISTENCIAS NFC  ·  SENA ADSO 3413974</a:t>
            </a:r>
            <a:endParaRPr lang="en-US" sz="900" dirty="0"/>
          </a:p>
        </p:txBody>
      </p:sp>
      <p:sp>
        <p:nvSpPr>
          <p:cNvPr id="46" name="Text 3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43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286000"/>
            <a:ext cx="5486400" cy="5486400"/>
          </a:xfrm>
          <a:prstGeom prst="ellipse">
            <a:avLst/>
          </a:prstGeom>
          <a:solidFill>
            <a:srgbClr val="1E6B00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3" name="Shape 1"/>
          <p:cNvSpPr/>
          <p:nvPr/>
        </p:nvSpPr>
        <p:spPr>
          <a:xfrm>
            <a:off x="9601200" y="3840480"/>
            <a:ext cx="4572000" cy="4572000"/>
          </a:xfrm>
          <a:prstGeom prst="ellipse">
            <a:avLst/>
          </a:prstGeom>
          <a:solidFill>
            <a:srgbClr val="39A900">
              <a:alpha val="18000"/>
            </a:srgbClr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4" name="Shape 2"/>
          <p:cNvSpPr/>
          <p:nvPr/>
        </p:nvSpPr>
        <p:spPr>
          <a:xfrm>
            <a:off x="5367528" y="1371600"/>
            <a:ext cx="1463040" cy="1463040"/>
          </a:xfrm>
          <a:prstGeom prst="ellipse">
            <a:avLst/>
          </a:prstGeom>
          <a:solidFill>
            <a:srgbClr val="39A900"/>
          </a:solidFill>
          <a:ln/>
        </p:spPr>
        <p:txBody>
          <a:bodyPr/>
          <a:lstStyle/>
          <a:p>
            <a:endParaRPr lang="es-CO"/>
          </a:p>
        </p:txBody>
      </p:sp>
      <p:pic>
        <p:nvPicPr>
          <p:cNvPr id="5" name="Image 0" descr="/home/claude/sena-ppt/icons/wifi_darkerGre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18" y="1751990"/>
            <a:ext cx="702259" cy="70225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306324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Innovación, eficiencia y control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1371600" y="3703320"/>
            <a:ext cx="9418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D9EF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sistema de asistencia automatizado, transparente y seguro para la formación SENA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82880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9" name="Text 6"/>
          <p:cNvSpPr/>
          <p:nvPr/>
        </p:nvSpPr>
        <p:spPr>
          <a:xfrm>
            <a:off x="182880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93192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1" name="Text 8"/>
          <p:cNvSpPr/>
          <p:nvPr/>
        </p:nvSpPr>
        <p:spPr>
          <a:xfrm>
            <a:off x="393192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03504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3" name="Text 10"/>
          <p:cNvSpPr/>
          <p:nvPr/>
        </p:nvSpPr>
        <p:spPr>
          <a:xfrm>
            <a:off x="603504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8138160" y="457200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55A0A"/>
          </a:solidFill>
          <a:ln/>
        </p:spPr>
        <p:txBody>
          <a:bodyPr/>
          <a:lstStyle/>
          <a:p>
            <a:endParaRPr lang="es-CO"/>
          </a:p>
        </p:txBody>
      </p:sp>
      <p:sp>
        <p:nvSpPr>
          <p:cNvPr id="15" name="Text 12"/>
          <p:cNvSpPr/>
          <p:nvPr/>
        </p:nvSpPr>
        <p:spPr>
          <a:xfrm>
            <a:off x="8138160" y="4562856"/>
            <a:ext cx="1920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Transparencia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39A9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Gracias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14400" y="598932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Julián Torres Fierro  ·  Juan David Gómez Martínez  · </a:t>
            </a:r>
            <a:r>
              <a:rPr lang="en-US" sz="1150" dirty="0" err="1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kevin</a:t>
            </a:r>
            <a:r>
              <a:rPr lang="en-US" sz="11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Santiago Saavedra </a:t>
            </a:r>
            <a:r>
              <a:rPr lang="en-US" sz="1150" dirty="0" err="1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Chantris</a:t>
            </a:r>
            <a:r>
              <a:rPr lang="en-US" sz="1150" dirty="0">
                <a:solidFill>
                  <a:srgbClr val="9CC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SENA ADSO 3413974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1773</Words>
  <Application>Microsoft Office PowerPoint</Application>
  <PresentationFormat>Widescreen</PresentationFormat>
  <Paragraphs>439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Arial</vt:lpstr>
      <vt:lpstr>Calibri</vt:lpstr>
      <vt:lpstr>Montserrat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juan Gomez</cp:lastModifiedBy>
  <cp:revision>3</cp:revision>
  <dcterms:created xsi:type="dcterms:W3CDTF">2026-07-11T15:46:21Z</dcterms:created>
  <dcterms:modified xsi:type="dcterms:W3CDTF">2026-07-11T18:12:10Z</dcterms:modified>
</cp:coreProperties>
</file>